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506379b-a5fe-7764-11a8-f7d375428de1}">
          <p14:sldIdLst>
            <p14:sldId id="256"/>
            <p14:sldId id="257"/>
          </p14:sldIdLst>
        </p14:section>
        <p14:section name="Architecture" id="{319f5eba-d642-a92a-c10a-08e6d9a4c324}">
          <p14:sldIdLst>
            <p14:sldId id="258"/>
          </p14:sldIdLst>
        </p14:section>
        <p14:section name="Tech Stack" id="{f4229d69-c9f7-ff22-f5f7-df093efadf7a}">
          <p14:sldIdLst>
            <p14:sldId id="259"/>
            <p14:sldId id="260"/>
            <p14:sldId id="261"/>
            <p14:sldId id="262"/>
            <p14:sldId id="263"/>
            <p14:sldId id="264"/>
            <p14:sldId id="265"/>
          </p14:sldIdLst>
        </p14:section>
        <p14:section name="Summary" id="{83c4c2b5-34cd-3b15-fd4e-72428d432299}">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StockPilot is a small inventory management app. The app itself is simple on purpose — the focus of the project is how it is built, shipped and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SaaS-style dashboard for a warehouse team: add products, adjust stock, and see what needs reordering.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Users hit a single ingress, which routes to the React frontend or the FastAPI backend. The backend stores data in PostgreSQL. Prometheus scrapes the backend's metrics and Grafana shows them. Everything runs in an EKS cluster inside a VPC, both created by Terraform. Along the bottom: how code gets there — push, GitHub Actions builds and scans, images go to GHCR, Helm deploys.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layers, each with one main tool. Next few slides cover why we picked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chose popular, well-documented tools so the team could move fast. FastAPI gives us Swagger docs for free. Docker Compose lets anyone run the full app locally with one command.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Containers make the app portable. We harden them: non-root users, small base images, and an automatic vulnerability scan that fails the pipeline if anything serious is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push to main runs the pipeline: tests, Docker builds, a Trivy scan, publishing images to GitHub's container registry, then a Helm deploy to EKS. No manual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Kubernetes keeps the app running and scales it. EKS means AWS runs the control plane for us. Helm packages all our Kubernetes config so every deploy is identical.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Terraform describes our network and cluster as code: version-controlled, reviewable, repeatable. We can create everything for a demo and destroy it after, so we only pay while it's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backend exposes a /metrics endpoint. Prometheus finds each pod automatically and scrapes it; Grafana visualises request rate, latency and errors so we can spot problems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a simple app on an industry-standard, automated, secure and repeatable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1371600"/>
            <a:ext cx="4206240" cy="9144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457200" y="2377440"/>
            <a:ext cx="4206240" cy="1097280"/>
          </a:xfrm>
          <a:prstGeom prst="rect">
            <a:avLst/>
          </a:prstGeom>
          <a:noFill/>
          <a:ln/>
        </p:spPr>
        <p:txBody>
          <a:bodyPr wrap="square" rtlCol="0"/>
          <a:lstStyle>
            <a:lvl1pPr indent="0" marL="0">
              <a:buNone/>
              <a:defRPr lang="en-US" sz="1800" dirty="0">
                <a:solidFill>
                  <a:schemeClr val="accent5"/>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3.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3.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ogo circle"/>
          <p:cNvSpPr/>
          <p:nvPr/>
        </p:nvSpPr>
        <p:spPr>
          <a:xfrm>
            <a:off x="457200" y="685800"/>
            <a:ext cx="548640" cy="548640"/>
          </a:xfrm>
          <a:prstGeom prst="ellipse">
            <a:avLst/>
          </a:prstGeom>
          <a:solidFill>
            <a:schemeClr val="accent1"/>
          </a:solidFill>
          <a:ln/>
        </p:spPr>
      </p:sp>
      <p:pic>
        <p:nvPicPr>
          <p:cNvPr id="3" name="logo icon" descr="preencoded.png">    </p:cNvPr>
          <p:cNvPicPr>
            <a:picLocks noChangeAspect="1"/>
          </p:cNvPicPr>
          <p:nvPr/>
        </p:nvPicPr>
        <p:blipFill>
          <a:blip r:embed="rId1"/>
          <a:stretch>
            <a:fillRect/>
          </a:stretch>
        </p:blipFill>
        <p:spPr>
          <a:xfrm>
            <a:off x="588874" y="817474"/>
            <a:ext cx="285293" cy="285293"/>
          </a:xfrm>
          <a:prstGeom prst="rect">
            <a:avLst/>
          </a:prstGeom>
        </p:spPr>
      </p:pic>
      <p:sp>
        <p:nvSpPr>
          <p:cNvPr id="4" name="Text 0"/>
          <p:cNvSpPr/>
          <p:nvPr>
            <p:ph idx="100" type="title" hasCustomPrompt="1"/>
          </p:nvPr>
        </p:nvSpPr>
        <p:spPr>
          <a:xfrm>
            <a:off x="457200" y="1371600"/>
            <a:ext cx="4206240" cy="914400"/>
          </a:xfrm>
          <a:prstGeom prst="rect">
            <a:avLst/>
          </a:prstGeom>
          <a:noFill/>
          <a:ln/>
        </p:spPr>
        <p:txBody>
          <a:bodyPr wrap="square" lIns="0" tIns="0" rIns="0" bIns="0" rtlCol="0" anchor="b"/>
          <a:lstStyle/>
          <a:p>
            <a:pPr algn="l" indent="0" marL="0">
              <a:buNone/>
            </a:pPr>
            <a:r>
              <a:rPr lang="en-US" sz="4400" b="1" dirty="0">
                <a:solidFill>
                  <a:schemeClr val="bg1"/>
                </a:solidFill>
              </a:rPr>
              <a:t>StockPilot</a:t>
            </a:r>
            <a:endParaRPr lang="en-US" sz="4400" dirty="0"/>
          </a:p>
        </p:txBody>
      </p:sp>
      <p:sp>
        <p:nvSpPr>
          <p:cNvPr id="5" name="Text 0"/>
          <p:cNvSpPr/>
          <p:nvPr>
            <p:ph idx="101" type="body" hasCustomPrompt="1"/>
          </p:nvPr>
        </p:nvSpPr>
        <p:spPr>
          <a:xfrm>
            <a:off x="457200" y="2377440"/>
            <a:ext cx="4206240" cy="1097280"/>
          </a:xfrm>
          <a:prstGeom prst="rect">
            <a:avLst/>
          </a:prstGeom>
          <a:noFill/>
          <a:ln/>
        </p:spPr>
        <p:txBody>
          <a:bodyPr wrap="square" lIns="0" tIns="0" rIns="0" bIns="0" rtlCol="0" anchor="t"/>
          <a:lstStyle/>
          <a:p>
            <a:pPr indent="0" marL="0">
              <a:buNone/>
            </a:pPr>
            <a:r>
              <a:rPr lang="en-US" sz="1800" dirty="0">
                <a:solidFill>
                  <a:schemeClr val="accent5"/>
                </a:solidFill>
              </a:rPr>
              <a:t>Inventory management, shipped the DevOps way. Tech stack &amp; architecture overview.</a:t>
            </a:r>
            <a:endParaRPr lang="en-US" sz="1800" dirty="0"/>
          </a:p>
        </p:txBody>
      </p:sp>
      <p:sp>
        <p:nvSpPr>
          <p:cNvPr id="6" name="01-app-ingress.png frame"/>
          <p:cNvSpPr/>
          <p:nvPr/>
        </p:nvSpPr>
        <p:spPr>
          <a:xfrm>
            <a:off x="4901184" y="832104"/>
            <a:ext cx="3822192" cy="2676652"/>
          </a:xfrm>
          <a:prstGeom prst="rect">
            <a:avLst/>
          </a:prstGeom>
          <a:solidFill>
            <a:schemeClr val="bg1"/>
          </a:solidFill>
          <a:ln w="9525">
            <a:solidFill>
              <a:srgbClr val="CBD5E1"/>
            </a:solidFill>
            <a:prstDash val="solid"/>
          </a:ln>
          <a:effectLst>
            <a:outerShdw sx="100000" sy="100000" kx="0" ky="0" algn="bl" rotWithShape="0" blurRad="76200" dist="25400" dir="5400000">
              <a:srgbClr val="000000">
                <a:alpha val="18000"/>
              </a:srgbClr>
            </a:outerShdw>
          </a:effectLst>
        </p:spPr>
      </p:sp>
      <p:pic>
        <p:nvPicPr>
          <p:cNvPr id="7" name="01-app-ingress.png" descr="StockPilot inventory dashboard running on EKS">    </p:cNvPr>
          <p:cNvPicPr>
            <a:picLocks noChangeAspect="1"/>
          </p:cNvPicPr>
          <p:nvPr/>
        </p:nvPicPr>
        <p:blipFill>
          <a:blip r:embed="rId2"/>
          <a:stretch>
            <a:fillRect/>
          </a:stretch>
        </p:blipFill>
        <p:spPr>
          <a:xfrm>
            <a:off x="4937760" y="868680"/>
            <a:ext cx="3749040" cy="2603500"/>
          </a:xfrm>
          <a:prstGeom prst="rect">
            <a:avLst/>
          </a:prstGeom>
        </p:spPr>
      </p:pic>
      <p:sp>
        <p:nvSpPr>
          <p:cNvPr id="8" name="Text 4"/>
          <p:cNvSpPr txBox="1"/>
          <p:nvPr/>
        </p:nvSpPr>
        <p:spPr>
          <a:xfrm>
            <a:off x="4937760" y="3657600"/>
            <a:ext cx="3749040" cy="274320"/>
          </a:xfrm>
          <a:prstGeom prst="rect">
            <a:avLst/>
          </a:prstGeom>
          <a:noFill/>
          <a:ln/>
        </p:spPr>
        <p:txBody>
          <a:bodyPr wrap="square" lIns="0" tIns="0" rIns="0" bIns="0" rtlCol="0" anchor="ctr"/>
          <a:lstStyle/>
          <a:p>
            <a:pPr indent="0" marL="0">
              <a:buNone/>
            </a:pPr>
            <a:r>
              <a:rPr lang="en-US" sz="1100" i="1" dirty="0">
                <a:solidFill>
                  <a:srgbClr val="94A3B8"/>
                </a:solidFill>
              </a:rPr>
              <a:t>Live app, served through the Kubernetes ingress on AWS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What is StockPilot?</a:t>
            </a:r>
            <a:endParaRPr lang="en-US" sz="3000" dirty="0"/>
          </a:p>
        </p:txBody>
      </p:sp>
      <p:sp>
        <p:nvSpPr>
          <p:cNvPr id="3" name="row1 circle"/>
          <p:cNvSpPr/>
          <p:nvPr/>
        </p:nvSpPr>
        <p:spPr>
          <a:xfrm>
            <a:off x="457200" y="1234440"/>
            <a:ext cx="502920" cy="502920"/>
          </a:xfrm>
          <a:prstGeom prst="ellipse">
            <a:avLst/>
          </a:prstGeom>
          <a:solidFill>
            <a:schemeClr val="accent1"/>
          </a:solidFill>
          <a:ln/>
        </p:spPr>
      </p:sp>
      <p:pic>
        <p:nvPicPr>
          <p:cNvPr id="4" name="row1 icon" descr="preencoded.png">    </p:cNvPr>
          <p:cNvPicPr>
            <a:picLocks noChangeAspect="1"/>
          </p:cNvPicPr>
          <p:nvPr/>
        </p:nvPicPr>
        <p:blipFill>
          <a:blip r:embed="rId1"/>
          <a:stretch>
            <a:fillRect/>
          </a:stretch>
        </p:blipFill>
        <p:spPr>
          <a:xfrm>
            <a:off x="577901" y="1355141"/>
            <a:ext cx="261518" cy="261518"/>
          </a:xfrm>
          <a:prstGeom prst="rect">
            <a:avLst/>
          </a:prstGeom>
        </p:spPr>
      </p:pic>
      <p:sp>
        <p:nvSpPr>
          <p:cNvPr id="5" name="row1 text"/>
          <p:cNvSpPr txBox="1"/>
          <p:nvPr/>
        </p:nvSpPr>
        <p:spPr>
          <a:xfrm>
            <a:off x="1143000" y="1161288"/>
            <a:ext cx="2971800" cy="685800"/>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Track products</a:t>
            </a:r>
            <a:endParaRPr lang="en-US" sz="1600" dirty="0"/>
          </a:p>
          <a:p>
            <a:pPr indent="0" marL="0">
              <a:spcAft>
                <a:spcPts val="200"/>
              </a:spcAft>
              <a:buNone/>
            </a:pPr>
            <a:r>
              <a:rPr lang="en-US" sz="1400" dirty="0">
                <a:solidFill>
                  <a:schemeClr val="accent6"/>
                </a:solidFill>
              </a:rPr>
              <a:t>SKUs, suppliers, prices and quantities</a:t>
            </a:r>
            <a:endParaRPr lang="en-US" sz="1600" dirty="0"/>
          </a:p>
        </p:txBody>
      </p:sp>
      <p:sp>
        <p:nvSpPr>
          <p:cNvPr id="6" name="row2 circle"/>
          <p:cNvSpPr/>
          <p:nvPr/>
        </p:nvSpPr>
        <p:spPr>
          <a:xfrm>
            <a:off x="457200" y="2148840"/>
            <a:ext cx="502920" cy="502920"/>
          </a:xfrm>
          <a:prstGeom prst="ellipse">
            <a:avLst/>
          </a:prstGeom>
          <a:solidFill>
            <a:schemeClr val="accent1"/>
          </a:solidFill>
          <a:ln/>
        </p:spPr>
      </p:sp>
      <p:pic>
        <p:nvPicPr>
          <p:cNvPr id="7" name="row2 icon" descr="preencoded.png">    </p:cNvPr>
          <p:cNvPicPr>
            <a:picLocks noChangeAspect="1"/>
          </p:cNvPicPr>
          <p:nvPr/>
        </p:nvPicPr>
        <p:blipFill>
          <a:blip r:embed="rId2"/>
          <a:stretch>
            <a:fillRect/>
          </a:stretch>
        </p:blipFill>
        <p:spPr>
          <a:xfrm>
            <a:off x="577901" y="2269541"/>
            <a:ext cx="261518" cy="261518"/>
          </a:xfrm>
          <a:prstGeom prst="rect">
            <a:avLst/>
          </a:prstGeom>
        </p:spPr>
      </p:pic>
      <p:sp>
        <p:nvSpPr>
          <p:cNvPr id="8" name="row2 text"/>
          <p:cNvSpPr txBox="1"/>
          <p:nvPr/>
        </p:nvSpPr>
        <p:spPr>
          <a:xfrm>
            <a:off x="1143000" y="2075688"/>
            <a:ext cx="2971800" cy="685800"/>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Catch low stock early</a:t>
            </a:r>
            <a:endParaRPr lang="en-US" sz="1600" dirty="0"/>
          </a:p>
          <a:p>
            <a:pPr indent="0" marL="0">
              <a:spcAft>
                <a:spcPts val="200"/>
              </a:spcAft>
              <a:buNone/>
            </a:pPr>
            <a:r>
              <a:rPr lang="en-US" sz="1400" dirty="0">
                <a:solidFill>
                  <a:schemeClr val="accent6"/>
                </a:solidFill>
              </a:rPr>
              <a:t>Reorder thresholds flag items to restock</a:t>
            </a:r>
            <a:endParaRPr lang="en-US" sz="1600" dirty="0"/>
          </a:p>
        </p:txBody>
      </p:sp>
      <p:sp>
        <p:nvSpPr>
          <p:cNvPr id="9" name="row3 circle"/>
          <p:cNvSpPr/>
          <p:nvPr/>
        </p:nvSpPr>
        <p:spPr>
          <a:xfrm>
            <a:off x="457200" y="3063240"/>
            <a:ext cx="502920" cy="502920"/>
          </a:xfrm>
          <a:prstGeom prst="ellipse">
            <a:avLst/>
          </a:prstGeom>
          <a:solidFill>
            <a:schemeClr val="accent1"/>
          </a:solidFill>
          <a:ln/>
        </p:spPr>
      </p:sp>
      <p:pic>
        <p:nvPicPr>
          <p:cNvPr id="10" name="row3 icon" descr="preencoded.png">    </p:cNvPr>
          <p:cNvPicPr>
            <a:picLocks noChangeAspect="1"/>
          </p:cNvPicPr>
          <p:nvPr/>
        </p:nvPicPr>
        <p:blipFill>
          <a:blip r:embed="rId3"/>
          <a:stretch>
            <a:fillRect/>
          </a:stretch>
        </p:blipFill>
        <p:spPr>
          <a:xfrm>
            <a:off x="577901" y="3183941"/>
            <a:ext cx="261518" cy="261518"/>
          </a:xfrm>
          <a:prstGeom prst="rect">
            <a:avLst/>
          </a:prstGeom>
        </p:spPr>
      </p:pic>
      <p:sp>
        <p:nvSpPr>
          <p:cNvPr id="11" name="row3 text"/>
          <p:cNvSpPr txBox="1"/>
          <p:nvPr/>
        </p:nvSpPr>
        <p:spPr>
          <a:xfrm>
            <a:off x="1143000" y="2990088"/>
            <a:ext cx="2971800" cy="685800"/>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See the big picture</a:t>
            </a:r>
            <a:endParaRPr lang="en-US" sz="1600" dirty="0"/>
          </a:p>
          <a:p>
            <a:pPr indent="0" marL="0">
              <a:spcAft>
                <a:spcPts val="200"/>
              </a:spcAft>
              <a:buNone/>
            </a:pPr>
            <a:r>
              <a:rPr lang="en-US" sz="1400" dirty="0">
                <a:solidFill>
                  <a:schemeClr val="accent6"/>
                </a:solidFill>
              </a:rPr>
              <a:t>Live totals and inventory value at a glance</a:t>
            </a:r>
            <a:endParaRPr lang="en-US" sz="1600" dirty="0"/>
          </a:p>
        </p:txBody>
      </p:sp>
      <p:sp>
        <p:nvSpPr>
          <p:cNvPr id="12" name="01-app-ingress.png frame"/>
          <p:cNvSpPr/>
          <p:nvPr/>
        </p:nvSpPr>
        <p:spPr>
          <a:xfrm>
            <a:off x="4352544" y="1243584"/>
            <a:ext cx="4370832" cy="1625092"/>
          </a:xfrm>
          <a:prstGeom prst="rect">
            <a:avLst/>
          </a:prstGeom>
          <a:solidFill>
            <a:schemeClr val="bg1"/>
          </a:solidFill>
          <a:ln w="9525">
            <a:solidFill>
              <a:srgbClr val="CBD5E1"/>
            </a:solidFill>
            <a:prstDash val="solid"/>
          </a:ln>
          <a:effectLst>
            <a:outerShdw sx="100000" sy="100000" kx="0" ky="0" algn="bl" rotWithShape="0" blurRad="76200" dist="25400" dir="5400000">
              <a:srgbClr val="000000">
                <a:alpha val="18000"/>
              </a:srgbClr>
            </a:outerShdw>
          </a:effectLst>
        </p:spPr>
      </p:sp>
      <p:pic>
        <p:nvPicPr>
          <p:cNvPr id="13" name="01-app-ingress.png" descr="Inventory overview dashboard">    </p:cNvPr>
          <p:cNvPicPr>
            <a:picLocks noChangeAspect="1"/>
          </p:cNvPicPr>
          <p:nvPr/>
        </p:nvPicPr>
        <p:blipFill>
          <a:blip r:embed="rId4"/>
          <a:stretch>
            <a:fillRect/>
          </a:stretch>
        </p:blipFill>
        <p:spPr>
          <a:xfrm>
            <a:off x="4389120" y="1280160"/>
            <a:ext cx="4297680" cy="1551940"/>
          </a:xfrm>
          <a:prstGeom prst="rect">
            <a:avLst/>
          </a:prstGeom>
        </p:spPr>
      </p:pic>
      <p:sp>
        <p:nvSpPr>
          <p:cNvPr id="14" name="01-app-ingress.png caption"/>
          <p:cNvSpPr txBox="1"/>
          <p:nvPr/>
        </p:nvSpPr>
        <p:spPr>
          <a:xfrm>
            <a:off x="4389120" y="2923540"/>
            <a:ext cx="4297680" cy="274320"/>
          </a:xfrm>
          <a:prstGeom prst="rect">
            <a:avLst/>
          </a:prstGeom>
          <a:noFill/>
          <a:ln/>
        </p:spPr>
        <p:txBody>
          <a:bodyPr wrap="square" lIns="0" tIns="0" rIns="0" bIns="0" rtlCol="0" anchor="ctr"/>
          <a:lstStyle/>
          <a:p>
            <a:pPr indent="0" marL="0">
              <a:buNone/>
            </a:pPr>
            <a:r>
              <a:rPr lang="en-US" sz="1100" i="1" dirty="0">
                <a:solidFill>
                  <a:schemeClr val="accent4"/>
                </a:solidFill>
              </a:rPr>
              <a:t>Inventory overview dashboard</a:t>
            </a:r>
            <a:endParaRPr lang="en-US" sz="11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Architecture at a glance</a:t>
            </a:r>
            <a:endParaRPr lang="en-US" sz="3000" dirty="0"/>
          </a:p>
        </p:txBody>
      </p:sp>
      <p:sp>
        <p:nvSpPr>
          <p:cNvPr id="3" name="aws container"/>
          <p:cNvSpPr/>
          <p:nvPr/>
        </p:nvSpPr>
        <p:spPr>
          <a:xfrm>
            <a:off x="1737360" y="1051560"/>
            <a:ext cx="6949440" cy="3154680"/>
          </a:xfrm>
          <a:prstGeom prst="roundRect">
            <a:avLst>
              <a:gd name="adj" fmla="val 3478"/>
            </a:avLst>
          </a:prstGeom>
          <a:solidFill>
            <a:schemeClr val="bg2"/>
          </a:solidFill>
          <a:ln w="12700">
            <a:solidFill>
              <a:srgbClr val="CBD5E1"/>
            </a:solidFill>
            <a:prstDash val="dash"/>
          </a:ln>
        </p:spPr>
      </p:sp>
      <p:sp>
        <p:nvSpPr>
          <p:cNvPr id="4" name="Text 2"/>
          <p:cNvSpPr txBox="1"/>
          <p:nvPr/>
        </p:nvSpPr>
        <p:spPr>
          <a:xfrm>
            <a:off x="1874520" y="1097280"/>
            <a:ext cx="5486400" cy="320040"/>
          </a:xfrm>
          <a:prstGeom prst="rect">
            <a:avLst/>
          </a:prstGeom>
          <a:noFill/>
          <a:ln/>
        </p:spPr>
        <p:txBody>
          <a:bodyPr wrap="square" lIns="0" tIns="0" rIns="0" bIns="0" rtlCol="0" anchor="ctr"/>
          <a:lstStyle/>
          <a:p>
            <a:pPr indent="0" marL="0">
              <a:buNone/>
            </a:pPr>
            <a:r>
              <a:rPr lang="en-US" sz="1100" b="1" dirty="0">
                <a:solidFill>
                  <a:schemeClr val="accent4"/>
                </a:solidFill>
              </a:rPr>
              <a:t>AWS  ·  VPC + EKS Kubernetes cluster (built with Terraform)</a:t>
            </a:r>
            <a:endParaRPr lang="en-US" sz="1100" dirty="0"/>
          </a:p>
        </p:txBody>
      </p:sp>
      <p:sp>
        <p:nvSpPr>
          <p:cNvPr id="5" name="users box"/>
          <p:cNvSpPr/>
          <p:nvPr/>
        </p:nvSpPr>
        <p:spPr>
          <a:xfrm>
            <a:off x="457200" y="2103120"/>
            <a:ext cx="1005840" cy="640080"/>
          </a:xfrm>
          <a:prstGeom prst="roundRect">
            <a:avLst>
              <a:gd name="adj" fmla="val 11429"/>
            </a:avLst>
          </a:prstGeom>
          <a:solidFill>
            <a:schemeClr val="tx1"/>
          </a:solidFill>
          <a:ln/>
        </p:spPr>
      </p:sp>
      <p:sp>
        <p:nvSpPr>
          <p:cNvPr id="6" name="users label"/>
          <p:cNvSpPr txBox="1"/>
          <p:nvPr/>
        </p:nvSpPr>
        <p:spPr>
          <a:xfrm>
            <a:off x="457200" y="2103120"/>
            <a:ext cx="1005840" cy="640080"/>
          </a:xfrm>
          <a:prstGeom prst="rect">
            <a:avLst/>
          </a:prstGeom>
          <a:noFill/>
          <a:ln/>
        </p:spPr>
        <p:txBody>
          <a:bodyPr wrap="square" lIns="25400" tIns="25400" rIns="25400" bIns="25400" rtlCol="0" anchor="ctr"/>
          <a:lstStyle/>
          <a:p>
            <a:pPr algn="ctr" indent="0" marL="0">
              <a:buNone/>
            </a:pPr>
            <a:r>
              <a:rPr lang="en-US" sz="1300" b="1" dirty="0">
                <a:solidFill>
                  <a:schemeClr val="bg1"/>
                </a:solidFill>
              </a:rPr>
              <a:t>Users</a:t>
            </a:r>
            <a:endParaRPr lang="en-US" sz="1300" dirty="0"/>
          </a:p>
          <a:p>
            <a:pPr algn="ctr" indent="0" marL="0">
              <a:buNone/>
            </a:pPr>
            <a:r>
              <a:rPr lang="en-US" sz="1000" dirty="0">
                <a:solidFill>
                  <a:schemeClr val="bg1"/>
                </a:solidFill>
              </a:rPr>
              <a:t>web browser</a:t>
            </a:r>
            <a:endParaRPr lang="en-US" sz="1300" dirty="0"/>
          </a:p>
        </p:txBody>
      </p:sp>
      <p:sp>
        <p:nvSpPr>
          <p:cNvPr id="7" name="Shape 5"/>
          <p:cNvSpPr/>
          <p:nvPr/>
        </p:nvSpPr>
        <p:spPr>
          <a:xfrm>
            <a:off x="1463040" y="2423160"/>
            <a:ext cx="457200" cy="0"/>
          </a:xfrm>
          <a:prstGeom prst="line">
            <a:avLst/>
          </a:prstGeom>
          <a:noFill/>
          <a:ln w="19050">
            <a:solidFill>
              <a:schemeClr val="accent4"/>
            </a:solidFill>
            <a:prstDash val="solid"/>
            <a:tailEnd type="triangle"/>
          </a:ln>
        </p:spPr>
      </p:sp>
      <p:sp>
        <p:nvSpPr>
          <p:cNvPr id="8" name="ingress box"/>
          <p:cNvSpPr/>
          <p:nvPr/>
        </p:nvSpPr>
        <p:spPr>
          <a:xfrm>
            <a:off x="1920240" y="2103120"/>
            <a:ext cx="1097280" cy="640080"/>
          </a:xfrm>
          <a:prstGeom prst="roundRect">
            <a:avLst>
              <a:gd name="adj" fmla="val 11429"/>
            </a:avLst>
          </a:prstGeom>
          <a:solidFill>
            <a:schemeClr val="accent6"/>
          </a:solidFill>
          <a:ln/>
        </p:spPr>
      </p:sp>
      <p:sp>
        <p:nvSpPr>
          <p:cNvPr id="9" name="ingress label"/>
          <p:cNvSpPr txBox="1"/>
          <p:nvPr/>
        </p:nvSpPr>
        <p:spPr>
          <a:xfrm>
            <a:off x="1920240" y="2103120"/>
            <a:ext cx="1097280" cy="640080"/>
          </a:xfrm>
          <a:prstGeom prst="rect">
            <a:avLst/>
          </a:prstGeom>
          <a:noFill/>
          <a:ln/>
        </p:spPr>
        <p:txBody>
          <a:bodyPr wrap="square" lIns="25400" tIns="25400" rIns="25400" bIns="25400" rtlCol="0" anchor="ctr"/>
          <a:lstStyle/>
          <a:p>
            <a:pPr algn="ctr" indent="0" marL="0">
              <a:buNone/>
            </a:pPr>
            <a:r>
              <a:rPr lang="en-US" sz="1300" b="1" dirty="0">
                <a:solidFill>
                  <a:schemeClr val="bg1"/>
                </a:solidFill>
              </a:rPr>
              <a:t>Ingress</a:t>
            </a:r>
            <a:endParaRPr lang="en-US" sz="1300" dirty="0"/>
          </a:p>
          <a:p>
            <a:pPr algn="ctr" indent="0" marL="0">
              <a:buNone/>
            </a:pPr>
            <a:r>
              <a:rPr lang="en-US" sz="1000" dirty="0">
                <a:solidFill>
                  <a:schemeClr val="bg1"/>
                </a:solidFill>
              </a:rPr>
              <a:t>NGINX</a:t>
            </a:r>
            <a:endParaRPr lang="en-US" sz="1300" dirty="0"/>
          </a:p>
        </p:txBody>
      </p:sp>
      <p:sp>
        <p:nvSpPr>
          <p:cNvPr id="10" name="Shape 8"/>
          <p:cNvSpPr/>
          <p:nvPr/>
        </p:nvSpPr>
        <p:spPr>
          <a:xfrm flipV="1">
            <a:off x="3017520" y="1874520"/>
            <a:ext cx="457200" cy="548640"/>
          </a:xfrm>
          <a:prstGeom prst="line">
            <a:avLst/>
          </a:prstGeom>
          <a:noFill/>
          <a:ln w="19050">
            <a:solidFill>
              <a:schemeClr val="accent4"/>
            </a:solidFill>
            <a:prstDash val="solid"/>
            <a:tailEnd type="triangle"/>
          </a:ln>
        </p:spPr>
      </p:sp>
      <p:sp>
        <p:nvSpPr>
          <p:cNvPr id="11" name="Shape 9"/>
          <p:cNvSpPr/>
          <p:nvPr/>
        </p:nvSpPr>
        <p:spPr>
          <a:xfrm>
            <a:off x="3017520" y="2423160"/>
            <a:ext cx="457200" cy="548640"/>
          </a:xfrm>
          <a:prstGeom prst="line">
            <a:avLst/>
          </a:prstGeom>
          <a:noFill/>
          <a:ln w="19050">
            <a:solidFill>
              <a:schemeClr val="accent4"/>
            </a:solidFill>
            <a:prstDash val="solid"/>
            <a:tailEnd type="triangle"/>
          </a:ln>
        </p:spPr>
      </p:sp>
      <p:sp>
        <p:nvSpPr>
          <p:cNvPr id="12" name="frontend box"/>
          <p:cNvSpPr/>
          <p:nvPr/>
        </p:nvSpPr>
        <p:spPr>
          <a:xfrm>
            <a:off x="3474720" y="1554480"/>
            <a:ext cx="1554480" cy="640080"/>
          </a:xfrm>
          <a:prstGeom prst="roundRect">
            <a:avLst>
              <a:gd name="adj" fmla="val 11429"/>
            </a:avLst>
          </a:prstGeom>
          <a:solidFill>
            <a:schemeClr val="accent1"/>
          </a:solidFill>
          <a:ln/>
        </p:spPr>
      </p:sp>
      <p:sp>
        <p:nvSpPr>
          <p:cNvPr id="13" name="frontend label"/>
          <p:cNvSpPr txBox="1"/>
          <p:nvPr/>
        </p:nvSpPr>
        <p:spPr>
          <a:xfrm>
            <a:off x="3474720" y="1554480"/>
            <a:ext cx="1554480" cy="640080"/>
          </a:xfrm>
          <a:prstGeom prst="rect">
            <a:avLst/>
          </a:prstGeom>
          <a:noFill/>
          <a:ln/>
        </p:spPr>
        <p:txBody>
          <a:bodyPr wrap="square" lIns="25400" tIns="25400" rIns="25400" bIns="25400" rtlCol="0" anchor="ctr"/>
          <a:lstStyle/>
          <a:p>
            <a:pPr algn="ctr" indent="0" marL="0">
              <a:buNone/>
            </a:pPr>
            <a:r>
              <a:rPr lang="en-US" sz="1300" b="1" dirty="0">
                <a:solidFill>
                  <a:schemeClr val="bg1"/>
                </a:solidFill>
              </a:rPr>
              <a:t>Frontend</a:t>
            </a:r>
            <a:endParaRPr lang="en-US" sz="1300" dirty="0"/>
          </a:p>
          <a:p>
            <a:pPr algn="ctr" indent="0" marL="0">
              <a:buNone/>
            </a:pPr>
            <a:r>
              <a:rPr lang="en-US" sz="1000" dirty="0">
                <a:solidFill>
                  <a:schemeClr val="bg1"/>
                </a:solidFill>
              </a:rPr>
              <a:t>React + Nginx</a:t>
            </a:r>
            <a:endParaRPr lang="en-US" sz="1300" dirty="0"/>
          </a:p>
        </p:txBody>
      </p:sp>
      <p:sp>
        <p:nvSpPr>
          <p:cNvPr id="14" name="backend box"/>
          <p:cNvSpPr/>
          <p:nvPr/>
        </p:nvSpPr>
        <p:spPr>
          <a:xfrm>
            <a:off x="3474720" y="2651760"/>
            <a:ext cx="1554480" cy="640080"/>
          </a:xfrm>
          <a:prstGeom prst="roundRect">
            <a:avLst>
              <a:gd name="adj" fmla="val 11429"/>
            </a:avLst>
          </a:prstGeom>
          <a:solidFill>
            <a:schemeClr val="accent1"/>
          </a:solidFill>
          <a:ln/>
        </p:spPr>
      </p:sp>
      <p:sp>
        <p:nvSpPr>
          <p:cNvPr id="15" name="backend label"/>
          <p:cNvSpPr txBox="1"/>
          <p:nvPr/>
        </p:nvSpPr>
        <p:spPr>
          <a:xfrm>
            <a:off x="3474720" y="2651760"/>
            <a:ext cx="1554480" cy="640080"/>
          </a:xfrm>
          <a:prstGeom prst="rect">
            <a:avLst/>
          </a:prstGeom>
          <a:noFill/>
          <a:ln/>
        </p:spPr>
        <p:txBody>
          <a:bodyPr wrap="square" lIns="25400" tIns="25400" rIns="25400" bIns="25400" rtlCol="0" anchor="ctr"/>
          <a:lstStyle/>
          <a:p>
            <a:pPr algn="ctr" indent="0" marL="0">
              <a:buNone/>
            </a:pPr>
            <a:r>
              <a:rPr lang="en-US" sz="1300" b="1" dirty="0">
                <a:solidFill>
                  <a:schemeClr val="bg1"/>
                </a:solidFill>
              </a:rPr>
              <a:t>Backend API</a:t>
            </a:r>
            <a:endParaRPr lang="en-US" sz="1300" dirty="0"/>
          </a:p>
          <a:p>
            <a:pPr algn="ctr" indent="0" marL="0">
              <a:buNone/>
            </a:pPr>
            <a:r>
              <a:rPr lang="en-US" sz="1000" dirty="0">
                <a:solidFill>
                  <a:schemeClr val="bg1"/>
                </a:solidFill>
              </a:rPr>
              <a:t>FastAPI</a:t>
            </a:r>
            <a:endParaRPr lang="en-US" sz="1300" dirty="0"/>
          </a:p>
        </p:txBody>
      </p:sp>
      <p:sp>
        <p:nvSpPr>
          <p:cNvPr id="16" name="Shape 14"/>
          <p:cNvSpPr/>
          <p:nvPr/>
        </p:nvSpPr>
        <p:spPr>
          <a:xfrm>
            <a:off x="5029200" y="2971800"/>
            <a:ext cx="457200" cy="0"/>
          </a:xfrm>
          <a:prstGeom prst="line">
            <a:avLst/>
          </a:prstGeom>
          <a:noFill/>
          <a:ln w="19050">
            <a:solidFill>
              <a:schemeClr val="accent4"/>
            </a:solidFill>
            <a:prstDash val="solid"/>
            <a:tailEnd type="triangle"/>
          </a:ln>
        </p:spPr>
      </p:sp>
      <p:sp>
        <p:nvSpPr>
          <p:cNvPr id="17" name="db box"/>
          <p:cNvSpPr/>
          <p:nvPr/>
        </p:nvSpPr>
        <p:spPr>
          <a:xfrm>
            <a:off x="5486400" y="2651760"/>
            <a:ext cx="1371600" cy="640080"/>
          </a:xfrm>
          <a:prstGeom prst="roundRect">
            <a:avLst>
              <a:gd name="adj" fmla="val 11429"/>
            </a:avLst>
          </a:prstGeom>
          <a:solidFill>
            <a:schemeClr val="accent3"/>
          </a:solidFill>
          <a:ln/>
        </p:spPr>
      </p:sp>
      <p:sp>
        <p:nvSpPr>
          <p:cNvPr id="18" name="db label"/>
          <p:cNvSpPr txBox="1"/>
          <p:nvPr/>
        </p:nvSpPr>
        <p:spPr>
          <a:xfrm>
            <a:off x="5486400" y="2651760"/>
            <a:ext cx="1371600" cy="640080"/>
          </a:xfrm>
          <a:prstGeom prst="rect">
            <a:avLst/>
          </a:prstGeom>
          <a:noFill/>
          <a:ln/>
        </p:spPr>
        <p:txBody>
          <a:bodyPr wrap="square" lIns="25400" tIns="25400" rIns="25400" bIns="25400" rtlCol="0" anchor="ctr"/>
          <a:lstStyle/>
          <a:p>
            <a:pPr algn="ctr" indent="0" marL="0">
              <a:buNone/>
            </a:pPr>
            <a:r>
              <a:rPr lang="en-US" sz="1300" b="1" dirty="0">
                <a:solidFill>
                  <a:schemeClr val="bg1"/>
                </a:solidFill>
              </a:rPr>
              <a:t>Database</a:t>
            </a:r>
            <a:endParaRPr lang="en-US" sz="1300" dirty="0"/>
          </a:p>
          <a:p>
            <a:pPr algn="ctr" indent="0" marL="0">
              <a:buNone/>
            </a:pPr>
            <a:r>
              <a:rPr lang="en-US" sz="1000" dirty="0">
                <a:solidFill>
                  <a:schemeClr val="bg1"/>
                </a:solidFill>
              </a:rPr>
              <a:t>PostgreSQL</a:t>
            </a:r>
            <a:endParaRPr lang="en-US" sz="1300" dirty="0"/>
          </a:p>
        </p:txBody>
      </p:sp>
      <p:sp>
        <p:nvSpPr>
          <p:cNvPr id="19" name="Shape 17"/>
          <p:cNvSpPr/>
          <p:nvPr/>
        </p:nvSpPr>
        <p:spPr>
          <a:xfrm>
            <a:off x="4251960" y="3291840"/>
            <a:ext cx="0" cy="320040"/>
          </a:xfrm>
          <a:prstGeom prst="line">
            <a:avLst/>
          </a:prstGeom>
          <a:noFill/>
          <a:ln w="19050">
            <a:solidFill>
              <a:schemeClr val="accent4"/>
            </a:solidFill>
            <a:prstDash val="solid"/>
            <a:headEnd type="triangle"/>
          </a:ln>
        </p:spPr>
      </p:sp>
      <p:sp>
        <p:nvSpPr>
          <p:cNvPr id="20" name="prom box"/>
          <p:cNvSpPr/>
          <p:nvPr/>
        </p:nvSpPr>
        <p:spPr>
          <a:xfrm>
            <a:off x="3474720" y="3611880"/>
            <a:ext cx="1554480" cy="457200"/>
          </a:xfrm>
          <a:prstGeom prst="roundRect">
            <a:avLst>
              <a:gd name="adj" fmla="val 16000"/>
            </a:avLst>
          </a:prstGeom>
          <a:solidFill>
            <a:schemeClr val="accent2"/>
          </a:solidFill>
          <a:ln/>
        </p:spPr>
      </p:sp>
      <p:sp>
        <p:nvSpPr>
          <p:cNvPr id="21" name="prom label"/>
          <p:cNvSpPr txBox="1"/>
          <p:nvPr/>
        </p:nvSpPr>
        <p:spPr>
          <a:xfrm>
            <a:off x="3474720" y="3611880"/>
            <a:ext cx="1554480" cy="457200"/>
          </a:xfrm>
          <a:prstGeom prst="rect">
            <a:avLst/>
          </a:prstGeom>
          <a:noFill/>
          <a:ln/>
        </p:spPr>
        <p:txBody>
          <a:bodyPr wrap="square" lIns="25400" tIns="25400" rIns="25400" bIns="25400" rtlCol="0" anchor="ctr"/>
          <a:lstStyle/>
          <a:p>
            <a:pPr algn="ctr" indent="0" marL="0">
              <a:buNone/>
            </a:pPr>
            <a:r>
              <a:rPr lang="en-US" sz="1300" b="1" dirty="0">
                <a:solidFill>
                  <a:schemeClr val="tx1"/>
                </a:solidFill>
              </a:rPr>
              <a:t>Prometheus</a:t>
            </a:r>
            <a:endParaRPr lang="en-US" sz="1300" dirty="0"/>
          </a:p>
          <a:p>
            <a:pPr algn="ctr" indent="0" marL="0">
              <a:buNone/>
            </a:pPr>
            <a:r>
              <a:rPr lang="en-US" sz="1000" dirty="0">
                <a:solidFill>
                  <a:schemeClr val="tx1"/>
                </a:solidFill>
              </a:rPr>
              <a:t>collects metrics</a:t>
            </a:r>
            <a:endParaRPr lang="en-US" sz="1300" dirty="0"/>
          </a:p>
        </p:txBody>
      </p:sp>
      <p:sp>
        <p:nvSpPr>
          <p:cNvPr id="22" name="Shape 20"/>
          <p:cNvSpPr/>
          <p:nvPr/>
        </p:nvSpPr>
        <p:spPr>
          <a:xfrm>
            <a:off x="5029200" y="3840480"/>
            <a:ext cx="457200" cy="0"/>
          </a:xfrm>
          <a:prstGeom prst="line">
            <a:avLst/>
          </a:prstGeom>
          <a:noFill/>
          <a:ln w="19050">
            <a:solidFill>
              <a:schemeClr val="accent4"/>
            </a:solidFill>
            <a:prstDash val="solid"/>
            <a:tailEnd type="triangle"/>
          </a:ln>
        </p:spPr>
      </p:sp>
      <p:sp>
        <p:nvSpPr>
          <p:cNvPr id="23" name="grafana box"/>
          <p:cNvSpPr/>
          <p:nvPr/>
        </p:nvSpPr>
        <p:spPr>
          <a:xfrm>
            <a:off x="5486400" y="3611880"/>
            <a:ext cx="1371600" cy="457200"/>
          </a:xfrm>
          <a:prstGeom prst="roundRect">
            <a:avLst>
              <a:gd name="adj" fmla="val 16000"/>
            </a:avLst>
          </a:prstGeom>
          <a:solidFill>
            <a:schemeClr val="accent2"/>
          </a:solidFill>
          <a:ln/>
        </p:spPr>
      </p:sp>
      <p:sp>
        <p:nvSpPr>
          <p:cNvPr id="24" name="grafana label"/>
          <p:cNvSpPr txBox="1"/>
          <p:nvPr/>
        </p:nvSpPr>
        <p:spPr>
          <a:xfrm>
            <a:off x="5486400" y="3611880"/>
            <a:ext cx="1371600" cy="457200"/>
          </a:xfrm>
          <a:prstGeom prst="rect">
            <a:avLst/>
          </a:prstGeom>
          <a:noFill/>
          <a:ln/>
        </p:spPr>
        <p:txBody>
          <a:bodyPr wrap="square" lIns="25400" tIns="25400" rIns="25400" bIns="25400" rtlCol="0" anchor="ctr"/>
          <a:lstStyle/>
          <a:p>
            <a:pPr algn="ctr" indent="0" marL="0">
              <a:buNone/>
            </a:pPr>
            <a:r>
              <a:rPr lang="en-US" sz="1300" b="1" dirty="0">
                <a:solidFill>
                  <a:schemeClr val="tx1"/>
                </a:solidFill>
              </a:rPr>
              <a:t>Grafana</a:t>
            </a:r>
            <a:endParaRPr lang="en-US" sz="1300" dirty="0"/>
          </a:p>
          <a:p>
            <a:pPr algn="ctr" indent="0" marL="0">
              <a:buNone/>
            </a:pPr>
            <a:r>
              <a:rPr lang="en-US" sz="1000" dirty="0">
                <a:solidFill>
                  <a:schemeClr val="tx1"/>
                </a:solidFill>
              </a:rPr>
              <a:t>dashboards</a:t>
            </a:r>
            <a:endParaRPr lang="en-US" sz="1300" dirty="0"/>
          </a:p>
        </p:txBody>
      </p:sp>
      <p:sp>
        <p:nvSpPr>
          <p:cNvPr id="25" name="cluster notes"/>
          <p:cNvSpPr txBox="1"/>
          <p:nvPr/>
        </p:nvSpPr>
        <p:spPr>
          <a:xfrm>
            <a:off x="7040880" y="1554480"/>
            <a:ext cx="1600200" cy="137160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chemeClr val="accent6"/>
                </a:solidFill>
              </a:rPr>
              <a:t>2+ replicas of each app</a:t>
            </a:r>
            <a:endParaRPr lang="en-US" sz="1100" dirty="0"/>
          </a:p>
          <a:p>
            <a:pPr marL="342900" indent="-342900">
              <a:spcAft>
                <a:spcPts val="400"/>
              </a:spcAft>
              <a:buSzPct val="100000"/>
              <a:buChar char="•"/>
            </a:pPr>
            <a:r>
              <a:rPr lang="en-US" sz="1100" dirty="0">
                <a:solidFill>
                  <a:schemeClr val="accent6"/>
                </a:solidFill>
              </a:rPr>
              <a:t>Auto-scales on load</a:t>
            </a:r>
            <a:endParaRPr lang="en-US" sz="1100" dirty="0"/>
          </a:p>
          <a:p>
            <a:pPr marL="342900" indent="-342900">
              <a:spcAft>
                <a:spcPts val="400"/>
              </a:spcAft>
              <a:buSzPct val="100000"/>
              <a:buChar char="•"/>
            </a:pPr>
            <a:r>
              <a:rPr lang="en-US" sz="1100" dirty="0">
                <a:solidFill>
                  <a:schemeClr val="accent6"/>
                </a:solidFill>
              </a:rPr>
              <a:t>Health checks restart failures</a:t>
            </a:r>
            <a:endParaRPr lang="en-US" sz="1100" dirty="0"/>
          </a:p>
        </p:txBody>
      </p:sp>
      <p:sp>
        <p:nvSpPr>
          <p:cNvPr id="26" name="step 1"/>
          <p:cNvSpPr/>
          <p:nvPr/>
        </p:nvSpPr>
        <p:spPr>
          <a:xfrm>
            <a:off x="457200" y="4343400"/>
            <a:ext cx="2011680" cy="384048"/>
          </a:xfrm>
          <a:prstGeom prst="chevron">
            <a:avLst/>
          </a:prstGeom>
          <a:solidFill>
            <a:schemeClr val="tx2"/>
          </a:solidFill>
          <a:ln/>
        </p:spPr>
      </p:sp>
      <p:sp>
        <p:nvSpPr>
          <p:cNvPr id="27" name="Text 25"/>
          <p:cNvSpPr txBox="1"/>
          <p:nvPr/>
        </p:nvSpPr>
        <p:spPr>
          <a:xfrm>
            <a:off x="640080" y="4343400"/>
            <a:ext cx="1645920" cy="384048"/>
          </a:xfrm>
          <a:prstGeom prst="rect">
            <a:avLst/>
          </a:prstGeom>
          <a:noFill/>
          <a:ln/>
        </p:spPr>
        <p:txBody>
          <a:bodyPr wrap="square" lIns="0" tIns="0" rIns="0" bIns="0" rtlCol="0" anchor="ctr"/>
          <a:lstStyle/>
          <a:p>
            <a:pPr algn="ctr" indent="0" marL="0">
              <a:buNone/>
            </a:pPr>
            <a:r>
              <a:rPr lang="en-US" sz="1000" b="1" dirty="0">
                <a:solidFill>
                  <a:schemeClr val="bg1"/>
                </a:solidFill>
              </a:rPr>
              <a:t>Code push</a:t>
            </a:r>
            <a:endParaRPr lang="en-US" sz="1000" dirty="0"/>
          </a:p>
        </p:txBody>
      </p:sp>
      <p:sp>
        <p:nvSpPr>
          <p:cNvPr id="28" name="step 2"/>
          <p:cNvSpPr/>
          <p:nvPr/>
        </p:nvSpPr>
        <p:spPr>
          <a:xfrm>
            <a:off x="2530145" y="4343400"/>
            <a:ext cx="2011680" cy="384048"/>
          </a:xfrm>
          <a:prstGeom prst="chevron">
            <a:avLst/>
          </a:prstGeom>
          <a:solidFill>
            <a:schemeClr val="tx2"/>
          </a:solidFill>
          <a:ln/>
        </p:spPr>
      </p:sp>
      <p:sp>
        <p:nvSpPr>
          <p:cNvPr id="29" name="Text 27"/>
          <p:cNvSpPr txBox="1"/>
          <p:nvPr/>
        </p:nvSpPr>
        <p:spPr>
          <a:xfrm>
            <a:off x="2713025" y="4343400"/>
            <a:ext cx="1645920" cy="384048"/>
          </a:xfrm>
          <a:prstGeom prst="rect">
            <a:avLst/>
          </a:prstGeom>
          <a:noFill/>
          <a:ln/>
        </p:spPr>
        <p:txBody>
          <a:bodyPr wrap="square" lIns="0" tIns="0" rIns="0" bIns="0" rtlCol="0" anchor="ctr"/>
          <a:lstStyle/>
          <a:p>
            <a:pPr algn="ctr" indent="0" marL="0">
              <a:buNone/>
            </a:pPr>
            <a:r>
              <a:rPr lang="en-US" sz="1000" b="1" dirty="0">
                <a:solidFill>
                  <a:schemeClr val="bg1"/>
                </a:solidFill>
              </a:rPr>
              <a:t>GitHub Actions: test, build, scan</a:t>
            </a:r>
            <a:endParaRPr lang="en-US" sz="1000" dirty="0"/>
          </a:p>
        </p:txBody>
      </p:sp>
      <p:sp>
        <p:nvSpPr>
          <p:cNvPr id="30" name="step 3"/>
          <p:cNvSpPr/>
          <p:nvPr/>
        </p:nvSpPr>
        <p:spPr>
          <a:xfrm>
            <a:off x="4603090" y="4343400"/>
            <a:ext cx="2011680" cy="384048"/>
          </a:xfrm>
          <a:prstGeom prst="chevron">
            <a:avLst/>
          </a:prstGeom>
          <a:solidFill>
            <a:schemeClr val="tx2"/>
          </a:solidFill>
          <a:ln/>
        </p:spPr>
      </p:sp>
      <p:sp>
        <p:nvSpPr>
          <p:cNvPr id="31" name="Text 29"/>
          <p:cNvSpPr txBox="1"/>
          <p:nvPr/>
        </p:nvSpPr>
        <p:spPr>
          <a:xfrm>
            <a:off x="4785970" y="4343400"/>
            <a:ext cx="1645920" cy="384048"/>
          </a:xfrm>
          <a:prstGeom prst="rect">
            <a:avLst/>
          </a:prstGeom>
          <a:noFill/>
          <a:ln/>
        </p:spPr>
        <p:txBody>
          <a:bodyPr wrap="square" lIns="0" tIns="0" rIns="0" bIns="0" rtlCol="0" anchor="ctr"/>
          <a:lstStyle/>
          <a:p>
            <a:pPr algn="ctr" indent="0" marL="0">
              <a:buNone/>
            </a:pPr>
            <a:r>
              <a:rPr lang="en-US" sz="1000" b="1" dirty="0">
                <a:solidFill>
                  <a:schemeClr val="bg1"/>
                </a:solidFill>
              </a:rPr>
              <a:t>GHCR image registry</a:t>
            </a:r>
            <a:endParaRPr lang="en-US" sz="1000" dirty="0"/>
          </a:p>
        </p:txBody>
      </p:sp>
      <p:sp>
        <p:nvSpPr>
          <p:cNvPr id="32" name="step 4"/>
          <p:cNvSpPr/>
          <p:nvPr/>
        </p:nvSpPr>
        <p:spPr>
          <a:xfrm>
            <a:off x="6676034" y="4343400"/>
            <a:ext cx="2011680" cy="384048"/>
          </a:xfrm>
          <a:prstGeom prst="chevron">
            <a:avLst/>
          </a:prstGeom>
          <a:solidFill>
            <a:schemeClr val="accent1"/>
          </a:solidFill>
          <a:ln/>
        </p:spPr>
      </p:sp>
      <p:sp>
        <p:nvSpPr>
          <p:cNvPr id="33" name="Text 31"/>
          <p:cNvSpPr txBox="1"/>
          <p:nvPr/>
        </p:nvSpPr>
        <p:spPr>
          <a:xfrm>
            <a:off x="6858914" y="4343400"/>
            <a:ext cx="1645920" cy="384048"/>
          </a:xfrm>
          <a:prstGeom prst="rect">
            <a:avLst/>
          </a:prstGeom>
          <a:noFill/>
          <a:ln/>
        </p:spPr>
        <p:txBody>
          <a:bodyPr wrap="square" lIns="0" tIns="0" rIns="0" bIns="0" rtlCol="0" anchor="ctr"/>
          <a:lstStyle/>
          <a:p>
            <a:pPr algn="ctr" indent="0" marL="0">
              <a:buNone/>
            </a:pPr>
            <a:r>
              <a:rPr lang="en-US" sz="1000" b="1" dirty="0">
                <a:solidFill>
                  <a:schemeClr val="bg1"/>
                </a:solidFill>
              </a:rPr>
              <a:t>Helm deploy to EKS</a:t>
            </a:r>
            <a:endParaRPr lang="en-US" sz="10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The tech stack</a:t>
            </a:r>
            <a:endParaRPr lang="en-US" sz="3000" dirty="0"/>
          </a:p>
        </p:txBody>
      </p:sp>
      <p:sp>
        <p:nvSpPr>
          <p:cNvPr id="3" name="Frontend card"/>
          <p:cNvSpPr/>
          <p:nvPr/>
        </p:nvSpPr>
        <p:spPr>
          <a:xfrm>
            <a:off x="457200" y="1097280"/>
            <a:ext cx="2651760" cy="1600200"/>
          </a:xfrm>
          <a:prstGeom prst="roundRect">
            <a:avLst>
              <a:gd name="adj" fmla="val 5714"/>
            </a:avLst>
          </a:prstGeom>
          <a:solidFill>
            <a:schemeClr val="bg2"/>
          </a:solidFill>
          <a:ln/>
        </p:spPr>
      </p:sp>
      <p:sp>
        <p:nvSpPr>
          <p:cNvPr id="4" name="Frontend circle"/>
          <p:cNvSpPr/>
          <p:nvPr/>
        </p:nvSpPr>
        <p:spPr>
          <a:xfrm>
            <a:off x="685800" y="1325880"/>
            <a:ext cx="548640" cy="548640"/>
          </a:xfrm>
          <a:prstGeom prst="ellipse">
            <a:avLst/>
          </a:prstGeom>
          <a:solidFill>
            <a:schemeClr val="accent1"/>
          </a:solidFill>
          <a:ln/>
        </p:spPr>
      </p:sp>
      <p:pic>
        <p:nvPicPr>
          <p:cNvPr id="5" name="Frontend icon" descr="preencoded.png">    </p:cNvPr>
          <p:cNvPicPr>
            <a:picLocks noChangeAspect="1"/>
          </p:cNvPicPr>
          <p:nvPr/>
        </p:nvPicPr>
        <p:blipFill>
          <a:blip r:embed="rId1"/>
          <a:stretch>
            <a:fillRect/>
          </a:stretch>
        </p:blipFill>
        <p:spPr>
          <a:xfrm>
            <a:off x="817474" y="1457554"/>
            <a:ext cx="285293" cy="285293"/>
          </a:xfrm>
          <a:prstGeom prst="rect">
            <a:avLst/>
          </a:prstGeom>
        </p:spPr>
      </p:pic>
      <p:sp>
        <p:nvSpPr>
          <p:cNvPr id="6" name="Text 3"/>
          <p:cNvSpPr txBox="1"/>
          <p:nvPr/>
        </p:nvSpPr>
        <p:spPr>
          <a:xfrm>
            <a:off x="685800" y="1965960"/>
            <a:ext cx="2194560" cy="292608"/>
          </a:xfrm>
          <a:prstGeom prst="rect">
            <a:avLst/>
          </a:prstGeom>
          <a:noFill/>
          <a:ln/>
        </p:spPr>
        <p:txBody>
          <a:bodyPr wrap="square" lIns="0" tIns="0" rIns="0" bIns="0" rtlCol="0" anchor="ctr"/>
          <a:lstStyle/>
          <a:p>
            <a:pPr indent="0" marL="0">
              <a:buNone/>
            </a:pPr>
            <a:r>
              <a:rPr lang="en-US" sz="1600" b="1" dirty="0">
                <a:solidFill>
                  <a:schemeClr val="tx1"/>
                </a:solidFill>
              </a:rPr>
              <a:t>Frontend</a:t>
            </a:r>
            <a:endParaRPr lang="en-US" sz="1600" dirty="0"/>
          </a:p>
        </p:txBody>
      </p:sp>
      <p:sp>
        <p:nvSpPr>
          <p:cNvPr id="7" name="Text 4"/>
          <p:cNvSpPr txBox="1"/>
          <p:nvPr/>
        </p:nvSpPr>
        <p:spPr>
          <a:xfrm>
            <a:off x="685800" y="2258568"/>
            <a:ext cx="2194560" cy="365760"/>
          </a:xfrm>
          <a:prstGeom prst="rect">
            <a:avLst/>
          </a:prstGeom>
          <a:noFill/>
          <a:ln/>
        </p:spPr>
        <p:txBody>
          <a:bodyPr wrap="square" lIns="0" tIns="0" rIns="0" bIns="0" rtlCol="0" anchor="t"/>
          <a:lstStyle/>
          <a:p>
            <a:pPr indent="0" marL="0">
              <a:buNone/>
            </a:pPr>
            <a:r>
              <a:rPr lang="en-US" sz="1300" dirty="0">
                <a:solidFill>
                  <a:schemeClr val="accent6"/>
                </a:solidFill>
              </a:rPr>
              <a:t>React + Vite, served by Nginx</a:t>
            </a:r>
            <a:endParaRPr lang="en-US" sz="1300" dirty="0"/>
          </a:p>
        </p:txBody>
      </p:sp>
      <p:sp>
        <p:nvSpPr>
          <p:cNvPr id="8" name="Backend card"/>
          <p:cNvSpPr/>
          <p:nvPr/>
        </p:nvSpPr>
        <p:spPr>
          <a:xfrm>
            <a:off x="3246120" y="1097280"/>
            <a:ext cx="2651760" cy="1600200"/>
          </a:xfrm>
          <a:prstGeom prst="roundRect">
            <a:avLst>
              <a:gd name="adj" fmla="val 5714"/>
            </a:avLst>
          </a:prstGeom>
          <a:solidFill>
            <a:schemeClr val="bg2"/>
          </a:solidFill>
          <a:ln/>
        </p:spPr>
      </p:sp>
      <p:sp>
        <p:nvSpPr>
          <p:cNvPr id="9" name="Backend circle"/>
          <p:cNvSpPr/>
          <p:nvPr/>
        </p:nvSpPr>
        <p:spPr>
          <a:xfrm>
            <a:off x="3474720" y="1325880"/>
            <a:ext cx="548640" cy="548640"/>
          </a:xfrm>
          <a:prstGeom prst="ellipse">
            <a:avLst/>
          </a:prstGeom>
          <a:solidFill>
            <a:schemeClr val="accent1"/>
          </a:solidFill>
          <a:ln/>
        </p:spPr>
      </p:sp>
      <p:pic>
        <p:nvPicPr>
          <p:cNvPr id="10" name="Backend icon" descr="preencoded.png">    </p:cNvPr>
          <p:cNvPicPr>
            <a:picLocks noChangeAspect="1"/>
          </p:cNvPicPr>
          <p:nvPr/>
        </p:nvPicPr>
        <p:blipFill>
          <a:blip r:embed="rId2"/>
          <a:stretch>
            <a:fillRect/>
          </a:stretch>
        </p:blipFill>
        <p:spPr>
          <a:xfrm>
            <a:off x="3606394" y="1457554"/>
            <a:ext cx="285293" cy="285293"/>
          </a:xfrm>
          <a:prstGeom prst="rect">
            <a:avLst/>
          </a:prstGeom>
        </p:spPr>
      </p:pic>
      <p:sp>
        <p:nvSpPr>
          <p:cNvPr id="11" name="Text 7"/>
          <p:cNvSpPr txBox="1"/>
          <p:nvPr/>
        </p:nvSpPr>
        <p:spPr>
          <a:xfrm>
            <a:off x="3474720" y="1965960"/>
            <a:ext cx="2194560" cy="292608"/>
          </a:xfrm>
          <a:prstGeom prst="rect">
            <a:avLst/>
          </a:prstGeom>
          <a:noFill/>
          <a:ln/>
        </p:spPr>
        <p:txBody>
          <a:bodyPr wrap="square" lIns="0" tIns="0" rIns="0" bIns="0" rtlCol="0" anchor="ctr"/>
          <a:lstStyle/>
          <a:p>
            <a:pPr indent="0" marL="0">
              <a:buNone/>
            </a:pPr>
            <a:r>
              <a:rPr lang="en-US" sz="1600" b="1" dirty="0">
                <a:solidFill>
                  <a:schemeClr val="tx1"/>
                </a:solidFill>
              </a:rPr>
              <a:t>Backend</a:t>
            </a:r>
            <a:endParaRPr lang="en-US" sz="1600" dirty="0"/>
          </a:p>
        </p:txBody>
      </p:sp>
      <p:sp>
        <p:nvSpPr>
          <p:cNvPr id="12" name="Text 8"/>
          <p:cNvSpPr txBox="1"/>
          <p:nvPr/>
        </p:nvSpPr>
        <p:spPr>
          <a:xfrm>
            <a:off x="3474720" y="2258568"/>
            <a:ext cx="2194560" cy="365760"/>
          </a:xfrm>
          <a:prstGeom prst="rect">
            <a:avLst/>
          </a:prstGeom>
          <a:noFill/>
          <a:ln/>
        </p:spPr>
        <p:txBody>
          <a:bodyPr wrap="square" lIns="0" tIns="0" rIns="0" bIns="0" rtlCol="0" anchor="t"/>
          <a:lstStyle/>
          <a:p>
            <a:pPr indent="0" marL="0">
              <a:buNone/>
            </a:pPr>
            <a:r>
              <a:rPr lang="en-US" sz="1300" dirty="0">
                <a:solidFill>
                  <a:schemeClr val="accent6"/>
                </a:solidFill>
              </a:rPr>
              <a:t>Python FastAPI + SQLAlchemy</a:t>
            </a:r>
            <a:endParaRPr lang="en-US" sz="1300" dirty="0"/>
          </a:p>
        </p:txBody>
      </p:sp>
      <p:sp>
        <p:nvSpPr>
          <p:cNvPr id="13" name="Database card"/>
          <p:cNvSpPr/>
          <p:nvPr/>
        </p:nvSpPr>
        <p:spPr>
          <a:xfrm>
            <a:off x="6035040" y="1097280"/>
            <a:ext cx="2651760" cy="1600200"/>
          </a:xfrm>
          <a:prstGeom prst="roundRect">
            <a:avLst>
              <a:gd name="adj" fmla="val 5714"/>
            </a:avLst>
          </a:prstGeom>
          <a:solidFill>
            <a:schemeClr val="bg2"/>
          </a:solidFill>
          <a:ln/>
        </p:spPr>
      </p:sp>
      <p:sp>
        <p:nvSpPr>
          <p:cNvPr id="14" name="Database circle"/>
          <p:cNvSpPr/>
          <p:nvPr/>
        </p:nvSpPr>
        <p:spPr>
          <a:xfrm>
            <a:off x="6263640" y="1325880"/>
            <a:ext cx="548640" cy="548640"/>
          </a:xfrm>
          <a:prstGeom prst="ellipse">
            <a:avLst/>
          </a:prstGeom>
          <a:solidFill>
            <a:schemeClr val="accent1"/>
          </a:solidFill>
          <a:ln/>
        </p:spPr>
      </p:sp>
      <p:pic>
        <p:nvPicPr>
          <p:cNvPr id="15" name="Database icon" descr="preencoded.png">    </p:cNvPr>
          <p:cNvPicPr>
            <a:picLocks noChangeAspect="1"/>
          </p:cNvPicPr>
          <p:nvPr/>
        </p:nvPicPr>
        <p:blipFill>
          <a:blip r:embed="rId3"/>
          <a:stretch>
            <a:fillRect/>
          </a:stretch>
        </p:blipFill>
        <p:spPr>
          <a:xfrm>
            <a:off x="6395314" y="1457554"/>
            <a:ext cx="285293" cy="285293"/>
          </a:xfrm>
          <a:prstGeom prst="rect">
            <a:avLst/>
          </a:prstGeom>
        </p:spPr>
      </p:pic>
      <p:sp>
        <p:nvSpPr>
          <p:cNvPr id="16" name="Text 11"/>
          <p:cNvSpPr txBox="1"/>
          <p:nvPr/>
        </p:nvSpPr>
        <p:spPr>
          <a:xfrm>
            <a:off x="6263640" y="1965960"/>
            <a:ext cx="2194560" cy="292608"/>
          </a:xfrm>
          <a:prstGeom prst="rect">
            <a:avLst/>
          </a:prstGeom>
          <a:noFill/>
          <a:ln/>
        </p:spPr>
        <p:txBody>
          <a:bodyPr wrap="square" lIns="0" tIns="0" rIns="0" bIns="0" rtlCol="0" anchor="ctr"/>
          <a:lstStyle/>
          <a:p>
            <a:pPr indent="0" marL="0">
              <a:buNone/>
            </a:pPr>
            <a:r>
              <a:rPr lang="en-US" sz="1600" b="1" dirty="0">
                <a:solidFill>
                  <a:schemeClr val="tx1"/>
                </a:solidFill>
              </a:rPr>
              <a:t>Database</a:t>
            </a:r>
            <a:endParaRPr lang="en-US" sz="1600" dirty="0"/>
          </a:p>
        </p:txBody>
      </p:sp>
      <p:sp>
        <p:nvSpPr>
          <p:cNvPr id="17" name="Text 12"/>
          <p:cNvSpPr txBox="1"/>
          <p:nvPr/>
        </p:nvSpPr>
        <p:spPr>
          <a:xfrm>
            <a:off x="6263640" y="2258568"/>
            <a:ext cx="2194560" cy="365760"/>
          </a:xfrm>
          <a:prstGeom prst="rect">
            <a:avLst/>
          </a:prstGeom>
          <a:noFill/>
          <a:ln/>
        </p:spPr>
        <p:txBody>
          <a:bodyPr wrap="square" lIns="0" tIns="0" rIns="0" bIns="0" rtlCol="0" anchor="t"/>
          <a:lstStyle/>
          <a:p>
            <a:pPr indent="0" marL="0">
              <a:buNone/>
            </a:pPr>
            <a:r>
              <a:rPr lang="en-US" sz="1300" dirty="0">
                <a:solidFill>
                  <a:schemeClr val="accent6"/>
                </a:solidFill>
              </a:rPr>
              <a:t>PostgreSQL 16</a:t>
            </a:r>
            <a:endParaRPr lang="en-US" sz="1300" dirty="0"/>
          </a:p>
        </p:txBody>
      </p:sp>
      <p:sp>
        <p:nvSpPr>
          <p:cNvPr id="18" name="CI/CD card"/>
          <p:cNvSpPr/>
          <p:nvPr/>
        </p:nvSpPr>
        <p:spPr>
          <a:xfrm>
            <a:off x="457200" y="2880360"/>
            <a:ext cx="2651760" cy="1600200"/>
          </a:xfrm>
          <a:prstGeom prst="roundRect">
            <a:avLst>
              <a:gd name="adj" fmla="val 5714"/>
            </a:avLst>
          </a:prstGeom>
          <a:solidFill>
            <a:schemeClr val="bg2"/>
          </a:solidFill>
          <a:ln/>
        </p:spPr>
      </p:sp>
      <p:sp>
        <p:nvSpPr>
          <p:cNvPr id="19" name="CI/CD circle"/>
          <p:cNvSpPr/>
          <p:nvPr/>
        </p:nvSpPr>
        <p:spPr>
          <a:xfrm>
            <a:off x="685800" y="3108960"/>
            <a:ext cx="548640" cy="548640"/>
          </a:xfrm>
          <a:prstGeom prst="ellipse">
            <a:avLst/>
          </a:prstGeom>
          <a:solidFill>
            <a:schemeClr val="accent1"/>
          </a:solidFill>
          <a:ln/>
        </p:spPr>
      </p:sp>
      <p:pic>
        <p:nvPicPr>
          <p:cNvPr id="20" name="CI/CD icon" descr="preencoded.png">    </p:cNvPr>
          <p:cNvPicPr>
            <a:picLocks noChangeAspect="1"/>
          </p:cNvPicPr>
          <p:nvPr/>
        </p:nvPicPr>
        <p:blipFill>
          <a:blip r:embed="rId4"/>
          <a:stretch>
            <a:fillRect/>
          </a:stretch>
        </p:blipFill>
        <p:spPr>
          <a:xfrm>
            <a:off x="817474" y="3240634"/>
            <a:ext cx="285293" cy="285293"/>
          </a:xfrm>
          <a:prstGeom prst="rect">
            <a:avLst/>
          </a:prstGeom>
        </p:spPr>
      </p:pic>
      <p:sp>
        <p:nvSpPr>
          <p:cNvPr id="21" name="Text 15"/>
          <p:cNvSpPr txBox="1"/>
          <p:nvPr/>
        </p:nvSpPr>
        <p:spPr>
          <a:xfrm>
            <a:off x="685800" y="3749040"/>
            <a:ext cx="2194560" cy="292608"/>
          </a:xfrm>
          <a:prstGeom prst="rect">
            <a:avLst/>
          </a:prstGeom>
          <a:noFill/>
          <a:ln/>
        </p:spPr>
        <p:txBody>
          <a:bodyPr wrap="square" lIns="0" tIns="0" rIns="0" bIns="0" rtlCol="0" anchor="ctr"/>
          <a:lstStyle/>
          <a:p>
            <a:pPr indent="0" marL="0">
              <a:buNone/>
            </a:pPr>
            <a:r>
              <a:rPr lang="en-US" sz="1600" b="1" dirty="0">
                <a:solidFill>
                  <a:schemeClr val="tx1"/>
                </a:solidFill>
              </a:rPr>
              <a:t>CI/CD</a:t>
            </a:r>
            <a:endParaRPr lang="en-US" sz="1600" dirty="0"/>
          </a:p>
        </p:txBody>
      </p:sp>
      <p:sp>
        <p:nvSpPr>
          <p:cNvPr id="22" name="Text 16"/>
          <p:cNvSpPr txBox="1"/>
          <p:nvPr/>
        </p:nvSpPr>
        <p:spPr>
          <a:xfrm>
            <a:off x="685800" y="4041648"/>
            <a:ext cx="2194560" cy="365760"/>
          </a:xfrm>
          <a:prstGeom prst="rect">
            <a:avLst/>
          </a:prstGeom>
          <a:noFill/>
          <a:ln/>
        </p:spPr>
        <p:txBody>
          <a:bodyPr wrap="square" lIns="0" tIns="0" rIns="0" bIns="0" rtlCol="0" anchor="t"/>
          <a:lstStyle/>
          <a:p>
            <a:pPr indent="0" marL="0">
              <a:buNone/>
            </a:pPr>
            <a:r>
              <a:rPr lang="en-US" sz="1300" dirty="0">
                <a:solidFill>
                  <a:schemeClr val="accent6"/>
                </a:solidFill>
              </a:rPr>
              <a:t>GitHub Actions, Trivy, GHCR</a:t>
            </a:r>
            <a:endParaRPr lang="en-US" sz="1300" dirty="0"/>
          </a:p>
        </p:txBody>
      </p:sp>
      <p:sp>
        <p:nvSpPr>
          <p:cNvPr id="23" name="Platform card"/>
          <p:cNvSpPr/>
          <p:nvPr/>
        </p:nvSpPr>
        <p:spPr>
          <a:xfrm>
            <a:off x="3246120" y="2880360"/>
            <a:ext cx="2651760" cy="1600200"/>
          </a:xfrm>
          <a:prstGeom prst="roundRect">
            <a:avLst>
              <a:gd name="adj" fmla="val 5714"/>
            </a:avLst>
          </a:prstGeom>
          <a:solidFill>
            <a:schemeClr val="bg2"/>
          </a:solidFill>
          <a:ln/>
        </p:spPr>
      </p:sp>
      <p:sp>
        <p:nvSpPr>
          <p:cNvPr id="24" name="Platform circle"/>
          <p:cNvSpPr/>
          <p:nvPr/>
        </p:nvSpPr>
        <p:spPr>
          <a:xfrm>
            <a:off x="3474720" y="3108960"/>
            <a:ext cx="548640" cy="548640"/>
          </a:xfrm>
          <a:prstGeom prst="ellipse">
            <a:avLst/>
          </a:prstGeom>
          <a:solidFill>
            <a:schemeClr val="accent1"/>
          </a:solidFill>
          <a:ln/>
        </p:spPr>
      </p:sp>
      <p:pic>
        <p:nvPicPr>
          <p:cNvPr id="25" name="Platform icon" descr="preencoded.png">    </p:cNvPr>
          <p:cNvPicPr>
            <a:picLocks noChangeAspect="1"/>
          </p:cNvPicPr>
          <p:nvPr/>
        </p:nvPicPr>
        <p:blipFill>
          <a:blip r:embed="rId5"/>
          <a:stretch>
            <a:fillRect/>
          </a:stretch>
        </p:blipFill>
        <p:spPr>
          <a:xfrm>
            <a:off x="3606394" y="3240634"/>
            <a:ext cx="285293" cy="285293"/>
          </a:xfrm>
          <a:prstGeom prst="rect">
            <a:avLst/>
          </a:prstGeom>
        </p:spPr>
      </p:pic>
      <p:sp>
        <p:nvSpPr>
          <p:cNvPr id="26" name="Text 19"/>
          <p:cNvSpPr txBox="1"/>
          <p:nvPr/>
        </p:nvSpPr>
        <p:spPr>
          <a:xfrm>
            <a:off x="3474720" y="3749040"/>
            <a:ext cx="2194560" cy="292608"/>
          </a:xfrm>
          <a:prstGeom prst="rect">
            <a:avLst/>
          </a:prstGeom>
          <a:noFill/>
          <a:ln/>
        </p:spPr>
        <p:txBody>
          <a:bodyPr wrap="square" lIns="0" tIns="0" rIns="0" bIns="0" rtlCol="0" anchor="ctr"/>
          <a:lstStyle/>
          <a:p>
            <a:pPr indent="0" marL="0">
              <a:buNone/>
            </a:pPr>
            <a:r>
              <a:rPr lang="en-US" sz="1600" b="1" dirty="0">
                <a:solidFill>
                  <a:schemeClr val="tx1"/>
                </a:solidFill>
              </a:rPr>
              <a:t>Platform</a:t>
            </a:r>
            <a:endParaRPr lang="en-US" sz="1600" dirty="0"/>
          </a:p>
        </p:txBody>
      </p:sp>
      <p:sp>
        <p:nvSpPr>
          <p:cNvPr id="27" name="Text 20"/>
          <p:cNvSpPr txBox="1"/>
          <p:nvPr/>
        </p:nvSpPr>
        <p:spPr>
          <a:xfrm>
            <a:off x="3474720" y="4041648"/>
            <a:ext cx="2194560" cy="365760"/>
          </a:xfrm>
          <a:prstGeom prst="rect">
            <a:avLst/>
          </a:prstGeom>
          <a:noFill/>
          <a:ln/>
        </p:spPr>
        <p:txBody>
          <a:bodyPr wrap="square" lIns="0" tIns="0" rIns="0" bIns="0" rtlCol="0" anchor="t"/>
          <a:lstStyle/>
          <a:p>
            <a:pPr indent="0" marL="0">
              <a:buNone/>
            </a:pPr>
            <a:r>
              <a:rPr lang="en-US" sz="1300" dirty="0">
                <a:solidFill>
                  <a:schemeClr val="accent6"/>
                </a:solidFill>
              </a:rPr>
              <a:t>Docker, Kubernetes (EKS), Helm, Terraform</a:t>
            </a:r>
            <a:endParaRPr lang="en-US" sz="1300" dirty="0"/>
          </a:p>
        </p:txBody>
      </p:sp>
      <p:sp>
        <p:nvSpPr>
          <p:cNvPr id="28" name="Monitoring card"/>
          <p:cNvSpPr/>
          <p:nvPr/>
        </p:nvSpPr>
        <p:spPr>
          <a:xfrm>
            <a:off x="6035040" y="2880360"/>
            <a:ext cx="2651760" cy="1600200"/>
          </a:xfrm>
          <a:prstGeom prst="roundRect">
            <a:avLst>
              <a:gd name="adj" fmla="val 5714"/>
            </a:avLst>
          </a:prstGeom>
          <a:solidFill>
            <a:schemeClr val="bg2"/>
          </a:solidFill>
          <a:ln/>
        </p:spPr>
      </p:sp>
      <p:sp>
        <p:nvSpPr>
          <p:cNvPr id="29" name="Monitoring circle"/>
          <p:cNvSpPr/>
          <p:nvPr/>
        </p:nvSpPr>
        <p:spPr>
          <a:xfrm>
            <a:off x="6263640" y="3108960"/>
            <a:ext cx="548640" cy="548640"/>
          </a:xfrm>
          <a:prstGeom prst="ellipse">
            <a:avLst/>
          </a:prstGeom>
          <a:solidFill>
            <a:schemeClr val="accent1"/>
          </a:solidFill>
          <a:ln/>
        </p:spPr>
      </p:sp>
      <p:pic>
        <p:nvPicPr>
          <p:cNvPr id="30" name="Monitoring icon" descr="preencoded.png">    </p:cNvPr>
          <p:cNvPicPr>
            <a:picLocks noChangeAspect="1"/>
          </p:cNvPicPr>
          <p:nvPr/>
        </p:nvPicPr>
        <p:blipFill>
          <a:blip r:embed="rId6"/>
          <a:stretch>
            <a:fillRect/>
          </a:stretch>
        </p:blipFill>
        <p:spPr>
          <a:xfrm>
            <a:off x="6395314" y="3240634"/>
            <a:ext cx="285293" cy="285293"/>
          </a:xfrm>
          <a:prstGeom prst="rect">
            <a:avLst/>
          </a:prstGeom>
        </p:spPr>
      </p:pic>
      <p:sp>
        <p:nvSpPr>
          <p:cNvPr id="31" name="Text 23"/>
          <p:cNvSpPr txBox="1"/>
          <p:nvPr/>
        </p:nvSpPr>
        <p:spPr>
          <a:xfrm>
            <a:off x="6263640" y="3749040"/>
            <a:ext cx="2194560" cy="292608"/>
          </a:xfrm>
          <a:prstGeom prst="rect">
            <a:avLst/>
          </a:prstGeom>
          <a:noFill/>
          <a:ln/>
        </p:spPr>
        <p:txBody>
          <a:bodyPr wrap="square" lIns="0" tIns="0" rIns="0" bIns="0" rtlCol="0" anchor="ctr"/>
          <a:lstStyle/>
          <a:p>
            <a:pPr indent="0" marL="0">
              <a:buNone/>
            </a:pPr>
            <a:r>
              <a:rPr lang="en-US" sz="1600" b="1" dirty="0">
                <a:solidFill>
                  <a:schemeClr val="tx1"/>
                </a:solidFill>
              </a:rPr>
              <a:t>Monitoring</a:t>
            </a:r>
            <a:endParaRPr lang="en-US" sz="1600" dirty="0"/>
          </a:p>
        </p:txBody>
      </p:sp>
      <p:sp>
        <p:nvSpPr>
          <p:cNvPr id="32" name="Text 24"/>
          <p:cNvSpPr txBox="1"/>
          <p:nvPr/>
        </p:nvSpPr>
        <p:spPr>
          <a:xfrm>
            <a:off x="6263640" y="4041648"/>
            <a:ext cx="2194560" cy="365760"/>
          </a:xfrm>
          <a:prstGeom prst="rect">
            <a:avLst/>
          </a:prstGeom>
          <a:noFill/>
          <a:ln/>
        </p:spPr>
        <p:txBody>
          <a:bodyPr wrap="square" lIns="0" tIns="0" rIns="0" bIns="0" rtlCol="0" anchor="t"/>
          <a:lstStyle/>
          <a:p>
            <a:pPr indent="0" marL="0">
              <a:buNone/>
            </a:pPr>
            <a:r>
              <a:rPr lang="en-US" sz="1300" dirty="0">
                <a:solidFill>
                  <a:schemeClr val="accent6"/>
                </a:solidFill>
              </a:rPr>
              <a:t>Prometheus + Grafana</a:t>
            </a:r>
            <a:endParaRPr lang="en-US" sz="13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App layer: simple, fast, proven</a:t>
            </a:r>
            <a:endParaRPr lang="en-US" sz="3000" dirty="0"/>
          </a:p>
        </p:txBody>
      </p:sp>
      <p:sp>
        <p:nvSpPr>
          <p:cNvPr id="3" name="react circle"/>
          <p:cNvSpPr/>
          <p:nvPr/>
        </p:nvSpPr>
        <p:spPr>
          <a:xfrm>
            <a:off x="457200" y="1234440"/>
            <a:ext cx="502920" cy="502920"/>
          </a:xfrm>
          <a:prstGeom prst="ellipse">
            <a:avLst/>
          </a:prstGeom>
          <a:solidFill>
            <a:schemeClr val="accent1"/>
          </a:solidFill>
          <a:ln/>
        </p:spPr>
      </p:sp>
      <p:pic>
        <p:nvPicPr>
          <p:cNvPr id="4" name="react icon" descr="preencoded.png">    </p:cNvPr>
          <p:cNvPicPr>
            <a:picLocks noChangeAspect="1"/>
          </p:cNvPicPr>
          <p:nvPr/>
        </p:nvPicPr>
        <p:blipFill>
          <a:blip r:embed="rId1"/>
          <a:stretch>
            <a:fillRect/>
          </a:stretch>
        </p:blipFill>
        <p:spPr>
          <a:xfrm>
            <a:off x="577901" y="1355141"/>
            <a:ext cx="261518" cy="261518"/>
          </a:xfrm>
          <a:prstGeom prst="rect">
            <a:avLst/>
          </a:prstGeom>
        </p:spPr>
      </p:pic>
      <p:sp>
        <p:nvSpPr>
          <p:cNvPr id="5" name="react text"/>
          <p:cNvSpPr txBox="1"/>
          <p:nvPr/>
        </p:nvSpPr>
        <p:spPr>
          <a:xfrm>
            <a:off x="1143000" y="1161288"/>
            <a:ext cx="3154680" cy="685800"/>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React + Vite</a:t>
            </a:r>
            <a:endParaRPr lang="en-US" sz="1600" dirty="0"/>
          </a:p>
          <a:p>
            <a:pPr indent="0" marL="0">
              <a:spcAft>
                <a:spcPts val="200"/>
              </a:spcAft>
              <a:buNone/>
            </a:pPr>
            <a:r>
              <a:rPr lang="en-US" sz="1400" dirty="0">
                <a:solidFill>
                  <a:schemeClr val="accent6"/>
                </a:solidFill>
              </a:rPr>
              <a:t>Reusable UI components; instant reloads in dev</a:t>
            </a:r>
            <a:endParaRPr lang="en-US" sz="1600" dirty="0"/>
          </a:p>
        </p:txBody>
      </p:sp>
      <p:sp>
        <p:nvSpPr>
          <p:cNvPr id="6" name="fastapi circle"/>
          <p:cNvSpPr/>
          <p:nvPr/>
        </p:nvSpPr>
        <p:spPr>
          <a:xfrm>
            <a:off x="457200" y="2148840"/>
            <a:ext cx="502920" cy="502920"/>
          </a:xfrm>
          <a:prstGeom prst="ellipse">
            <a:avLst/>
          </a:prstGeom>
          <a:solidFill>
            <a:schemeClr val="accent1"/>
          </a:solidFill>
          <a:ln/>
        </p:spPr>
      </p:sp>
      <p:pic>
        <p:nvPicPr>
          <p:cNvPr id="7" name="fastapi icon" descr="preencoded.png">    </p:cNvPr>
          <p:cNvPicPr>
            <a:picLocks noChangeAspect="1"/>
          </p:cNvPicPr>
          <p:nvPr/>
        </p:nvPicPr>
        <p:blipFill>
          <a:blip r:embed="rId2"/>
          <a:stretch>
            <a:fillRect/>
          </a:stretch>
        </p:blipFill>
        <p:spPr>
          <a:xfrm>
            <a:off x="577901" y="2269541"/>
            <a:ext cx="261518" cy="261518"/>
          </a:xfrm>
          <a:prstGeom prst="rect">
            <a:avLst/>
          </a:prstGeom>
        </p:spPr>
      </p:pic>
      <p:sp>
        <p:nvSpPr>
          <p:cNvPr id="8" name="fastapi text"/>
          <p:cNvSpPr txBox="1"/>
          <p:nvPr/>
        </p:nvSpPr>
        <p:spPr>
          <a:xfrm>
            <a:off x="1143000" y="2075688"/>
            <a:ext cx="3154680" cy="685800"/>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FastAPI</a:t>
            </a:r>
            <a:endParaRPr lang="en-US" sz="1600" dirty="0"/>
          </a:p>
          <a:p>
            <a:pPr indent="0" marL="0">
              <a:spcAft>
                <a:spcPts val="200"/>
              </a:spcAft>
              <a:buNone/>
            </a:pPr>
            <a:r>
              <a:rPr lang="en-US" sz="1400" dirty="0">
                <a:solidFill>
                  <a:schemeClr val="accent6"/>
                </a:solidFill>
              </a:rPr>
              <a:t>Quick to build, auto API docs, built-in validation</a:t>
            </a:r>
            <a:endParaRPr lang="en-US" sz="1600" dirty="0"/>
          </a:p>
        </p:txBody>
      </p:sp>
      <p:sp>
        <p:nvSpPr>
          <p:cNvPr id="9" name="pg circle"/>
          <p:cNvSpPr/>
          <p:nvPr/>
        </p:nvSpPr>
        <p:spPr>
          <a:xfrm>
            <a:off x="457200" y="3063240"/>
            <a:ext cx="502920" cy="502920"/>
          </a:xfrm>
          <a:prstGeom prst="ellipse">
            <a:avLst/>
          </a:prstGeom>
          <a:solidFill>
            <a:schemeClr val="accent1"/>
          </a:solidFill>
          <a:ln/>
        </p:spPr>
      </p:sp>
      <p:pic>
        <p:nvPicPr>
          <p:cNvPr id="10" name="pg icon" descr="preencoded.png">    </p:cNvPr>
          <p:cNvPicPr>
            <a:picLocks noChangeAspect="1"/>
          </p:cNvPicPr>
          <p:nvPr/>
        </p:nvPicPr>
        <p:blipFill>
          <a:blip r:embed="rId3"/>
          <a:stretch>
            <a:fillRect/>
          </a:stretch>
        </p:blipFill>
        <p:spPr>
          <a:xfrm>
            <a:off x="577901" y="3183941"/>
            <a:ext cx="261518" cy="261518"/>
          </a:xfrm>
          <a:prstGeom prst="rect">
            <a:avLst/>
          </a:prstGeom>
        </p:spPr>
      </p:pic>
      <p:sp>
        <p:nvSpPr>
          <p:cNvPr id="11" name="pg text"/>
          <p:cNvSpPr txBox="1"/>
          <p:nvPr/>
        </p:nvSpPr>
        <p:spPr>
          <a:xfrm>
            <a:off x="1143000" y="2990088"/>
            <a:ext cx="3154680" cy="685800"/>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PostgreSQL</a:t>
            </a:r>
            <a:endParaRPr lang="en-US" sz="1600" dirty="0"/>
          </a:p>
          <a:p>
            <a:pPr indent="0" marL="0">
              <a:spcAft>
                <a:spcPts val="200"/>
              </a:spcAft>
              <a:buNone/>
            </a:pPr>
            <a:r>
              <a:rPr lang="en-US" sz="1400" dirty="0">
                <a:solidFill>
                  <a:schemeClr val="accent6"/>
                </a:solidFill>
              </a:rPr>
              <a:t>Reliable database for structured inventory data</a:t>
            </a:r>
            <a:endParaRPr lang="en-US" sz="1600" dirty="0"/>
          </a:p>
        </p:txBody>
      </p:sp>
      <p:sp>
        <p:nvSpPr>
          <p:cNvPr id="12" name="17-compose.png frame"/>
          <p:cNvSpPr/>
          <p:nvPr/>
        </p:nvSpPr>
        <p:spPr>
          <a:xfrm>
            <a:off x="4535424" y="1152144"/>
            <a:ext cx="4187952" cy="1307592"/>
          </a:xfrm>
          <a:prstGeom prst="rect">
            <a:avLst/>
          </a:prstGeom>
          <a:solidFill>
            <a:schemeClr val="bg1"/>
          </a:solidFill>
          <a:ln w="9525">
            <a:solidFill>
              <a:srgbClr val="CBD5E1"/>
            </a:solidFill>
            <a:prstDash val="solid"/>
          </a:ln>
          <a:effectLst>
            <a:outerShdw sx="100000" sy="100000" kx="0" ky="0" algn="bl" rotWithShape="0" blurRad="76200" dist="25400" dir="5400000">
              <a:srgbClr val="000000">
                <a:alpha val="18000"/>
              </a:srgbClr>
            </a:outerShdw>
          </a:effectLst>
        </p:spPr>
      </p:sp>
      <p:pic>
        <p:nvPicPr>
          <p:cNvPr id="13" name="17-compose.png" descr="17-compose.png">    </p:cNvPr>
          <p:cNvPicPr>
            <a:picLocks noChangeAspect="1"/>
          </p:cNvPicPr>
          <p:nvPr/>
        </p:nvPicPr>
        <p:blipFill>
          <a:blip r:embed="rId4"/>
          <a:stretch>
            <a:fillRect/>
          </a:stretch>
        </p:blipFill>
        <p:spPr>
          <a:xfrm>
            <a:off x="4572000" y="1188720"/>
            <a:ext cx="4114800" cy="1234440"/>
          </a:xfrm>
          <a:prstGeom prst="rect">
            <a:avLst/>
          </a:prstGeom>
        </p:spPr>
      </p:pic>
      <p:sp>
        <p:nvSpPr>
          <p:cNvPr id="14" name="17-compose.png caption"/>
          <p:cNvSpPr txBox="1"/>
          <p:nvPr/>
        </p:nvSpPr>
        <p:spPr>
          <a:xfrm>
            <a:off x="4572000" y="2514600"/>
            <a:ext cx="4114800" cy="274320"/>
          </a:xfrm>
          <a:prstGeom prst="rect">
            <a:avLst/>
          </a:prstGeom>
          <a:noFill/>
          <a:ln/>
        </p:spPr>
        <p:txBody>
          <a:bodyPr wrap="square" lIns="0" tIns="0" rIns="0" bIns="0" rtlCol="0" anchor="ctr"/>
          <a:lstStyle/>
          <a:p>
            <a:pPr indent="0" marL="0">
              <a:buNone/>
            </a:pPr>
            <a:r>
              <a:rPr lang="en-US" sz="1100" i="1" dirty="0">
                <a:solidFill>
                  <a:schemeClr val="accent4"/>
                </a:solidFill>
              </a:rPr>
              <a:t>Whole stack runs locally with one command (Docker Compose)</a:t>
            </a:r>
            <a:endParaRPr lang="en-US" sz="1100" dirty="0"/>
          </a:p>
        </p:txBody>
      </p:sp>
      <p:sp>
        <p:nvSpPr>
          <p:cNvPr id="15" name="07-pytest.png frame"/>
          <p:cNvSpPr/>
          <p:nvPr/>
        </p:nvSpPr>
        <p:spPr>
          <a:xfrm>
            <a:off x="5104042" y="2889504"/>
            <a:ext cx="3050715" cy="1490472"/>
          </a:xfrm>
          <a:prstGeom prst="rect">
            <a:avLst/>
          </a:prstGeom>
          <a:solidFill>
            <a:schemeClr val="bg1"/>
          </a:solidFill>
          <a:ln w="9525">
            <a:solidFill>
              <a:srgbClr val="CBD5E1"/>
            </a:solidFill>
            <a:prstDash val="solid"/>
          </a:ln>
          <a:effectLst>
            <a:outerShdw sx="100000" sy="100000" kx="0" ky="0" algn="bl" rotWithShape="0" blurRad="76200" dist="25400" dir="5400000">
              <a:srgbClr val="000000">
                <a:alpha val="18000"/>
              </a:srgbClr>
            </a:outerShdw>
          </a:effectLst>
        </p:spPr>
      </p:sp>
      <p:pic>
        <p:nvPicPr>
          <p:cNvPr id="16" name="07-pytest.png" descr="07-pytest.png">    </p:cNvPr>
          <p:cNvPicPr>
            <a:picLocks noChangeAspect="1"/>
          </p:cNvPicPr>
          <p:nvPr/>
        </p:nvPicPr>
        <p:blipFill>
          <a:blip r:embed="rId5"/>
          <a:stretch>
            <a:fillRect/>
          </a:stretch>
        </p:blipFill>
        <p:spPr>
          <a:xfrm>
            <a:off x="5140618" y="2926080"/>
            <a:ext cx="2977563" cy="1417320"/>
          </a:xfrm>
          <a:prstGeom prst="rect">
            <a:avLst/>
          </a:prstGeom>
        </p:spPr>
      </p:pic>
      <p:sp>
        <p:nvSpPr>
          <p:cNvPr id="17" name="07-pytest.png caption"/>
          <p:cNvSpPr txBox="1"/>
          <p:nvPr/>
        </p:nvSpPr>
        <p:spPr>
          <a:xfrm>
            <a:off x="5140618" y="4434840"/>
            <a:ext cx="2977563" cy="274320"/>
          </a:xfrm>
          <a:prstGeom prst="rect">
            <a:avLst/>
          </a:prstGeom>
          <a:noFill/>
          <a:ln/>
        </p:spPr>
        <p:txBody>
          <a:bodyPr wrap="square" lIns="0" tIns="0" rIns="0" bIns="0" rtlCol="0" anchor="ctr"/>
          <a:lstStyle/>
          <a:p>
            <a:pPr indent="0" marL="0">
              <a:buNone/>
            </a:pPr>
            <a:r>
              <a:rPr lang="en-US" sz="1100" i="1" dirty="0">
                <a:solidFill>
                  <a:schemeClr val="accent4"/>
                </a:solidFill>
              </a:rPr>
              <a:t>Automated API tests: 10/10 passing</a:t>
            </a:r>
            <a:endParaRPr lang="en-US" sz="11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Containers, built secure by default</a:t>
            </a:r>
            <a:endParaRPr lang="en-US" sz="3000" dirty="0"/>
          </a:p>
        </p:txBody>
      </p:sp>
      <p:sp>
        <p:nvSpPr>
          <p:cNvPr id="3" name="docker circle"/>
          <p:cNvSpPr/>
          <p:nvPr/>
        </p:nvSpPr>
        <p:spPr>
          <a:xfrm>
            <a:off x="457200" y="1234440"/>
            <a:ext cx="502920" cy="502920"/>
          </a:xfrm>
          <a:prstGeom prst="ellipse">
            <a:avLst/>
          </a:prstGeom>
          <a:solidFill>
            <a:schemeClr val="accent1"/>
          </a:solidFill>
          <a:ln/>
        </p:spPr>
      </p:sp>
      <p:pic>
        <p:nvPicPr>
          <p:cNvPr id="4" name="docker icon" descr="preencoded.png">    </p:cNvPr>
          <p:cNvPicPr>
            <a:picLocks noChangeAspect="1"/>
          </p:cNvPicPr>
          <p:nvPr/>
        </p:nvPicPr>
        <p:blipFill>
          <a:blip r:embed="rId1"/>
          <a:stretch>
            <a:fillRect/>
          </a:stretch>
        </p:blipFill>
        <p:spPr>
          <a:xfrm>
            <a:off x="577901" y="1355141"/>
            <a:ext cx="261518" cy="261518"/>
          </a:xfrm>
          <a:prstGeom prst="rect">
            <a:avLst/>
          </a:prstGeom>
        </p:spPr>
      </p:pic>
      <p:sp>
        <p:nvSpPr>
          <p:cNvPr id="5" name="docker text"/>
          <p:cNvSpPr txBox="1"/>
          <p:nvPr/>
        </p:nvSpPr>
        <p:spPr>
          <a:xfrm>
            <a:off x="1143000" y="1161288"/>
            <a:ext cx="3154680" cy="685800"/>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Docker</a:t>
            </a:r>
            <a:endParaRPr lang="en-US" sz="1600" dirty="0"/>
          </a:p>
          <a:p>
            <a:pPr indent="0" marL="0">
              <a:spcAft>
                <a:spcPts val="200"/>
              </a:spcAft>
              <a:buNone/>
            </a:pPr>
            <a:r>
              <a:rPr lang="en-US" sz="1400" dirty="0">
                <a:solidFill>
                  <a:schemeClr val="accent6"/>
                </a:solidFill>
              </a:rPr>
              <a:t>Same image runs on a laptop, in CI and in the cloud</a:t>
            </a:r>
            <a:endParaRPr lang="en-US" sz="1600" dirty="0"/>
          </a:p>
        </p:txBody>
      </p:sp>
      <p:sp>
        <p:nvSpPr>
          <p:cNvPr id="6" name="nonroot circle"/>
          <p:cNvSpPr/>
          <p:nvPr/>
        </p:nvSpPr>
        <p:spPr>
          <a:xfrm>
            <a:off x="457200" y="2148840"/>
            <a:ext cx="502920" cy="502920"/>
          </a:xfrm>
          <a:prstGeom prst="ellipse">
            <a:avLst/>
          </a:prstGeom>
          <a:solidFill>
            <a:schemeClr val="accent1"/>
          </a:solidFill>
          <a:ln/>
        </p:spPr>
      </p:sp>
      <p:pic>
        <p:nvPicPr>
          <p:cNvPr id="7" name="nonroot icon" descr="preencoded.png">    </p:cNvPr>
          <p:cNvPicPr>
            <a:picLocks noChangeAspect="1"/>
          </p:cNvPicPr>
          <p:nvPr/>
        </p:nvPicPr>
        <p:blipFill>
          <a:blip r:embed="rId2"/>
          <a:stretch>
            <a:fillRect/>
          </a:stretch>
        </p:blipFill>
        <p:spPr>
          <a:xfrm>
            <a:off x="577901" y="2269541"/>
            <a:ext cx="261518" cy="261518"/>
          </a:xfrm>
          <a:prstGeom prst="rect">
            <a:avLst/>
          </a:prstGeom>
        </p:spPr>
      </p:pic>
      <p:sp>
        <p:nvSpPr>
          <p:cNvPr id="8" name="nonroot text"/>
          <p:cNvSpPr txBox="1"/>
          <p:nvPr/>
        </p:nvSpPr>
        <p:spPr>
          <a:xfrm>
            <a:off x="1143000" y="2075688"/>
            <a:ext cx="3154680" cy="685800"/>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Non-root &amp; slim</a:t>
            </a:r>
            <a:endParaRPr lang="en-US" sz="1600" dirty="0"/>
          </a:p>
          <a:p>
            <a:pPr indent="0" marL="0">
              <a:spcAft>
                <a:spcPts val="200"/>
              </a:spcAft>
              <a:buNone/>
            </a:pPr>
            <a:r>
              <a:rPr lang="en-US" sz="1400" dirty="0">
                <a:solidFill>
                  <a:schemeClr val="accent6"/>
                </a:solidFill>
              </a:rPr>
              <a:t>Containers run without admin rights; small images</a:t>
            </a:r>
            <a:endParaRPr lang="en-US" sz="1600" dirty="0"/>
          </a:p>
        </p:txBody>
      </p:sp>
      <p:sp>
        <p:nvSpPr>
          <p:cNvPr id="9" name="trivy circle"/>
          <p:cNvSpPr/>
          <p:nvPr/>
        </p:nvSpPr>
        <p:spPr>
          <a:xfrm>
            <a:off x="457200" y="3063240"/>
            <a:ext cx="502920" cy="502920"/>
          </a:xfrm>
          <a:prstGeom prst="ellipse">
            <a:avLst/>
          </a:prstGeom>
          <a:solidFill>
            <a:schemeClr val="accent1"/>
          </a:solidFill>
          <a:ln/>
        </p:spPr>
      </p:sp>
      <p:pic>
        <p:nvPicPr>
          <p:cNvPr id="10" name="trivy icon" descr="preencoded.png">    </p:cNvPr>
          <p:cNvPicPr>
            <a:picLocks noChangeAspect="1"/>
          </p:cNvPicPr>
          <p:nvPr/>
        </p:nvPicPr>
        <p:blipFill>
          <a:blip r:embed="rId3"/>
          <a:stretch>
            <a:fillRect/>
          </a:stretch>
        </p:blipFill>
        <p:spPr>
          <a:xfrm>
            <a:off x="577901" y="3183941"/>
            <a:ext cx="261518" cy="261518"/>
          </a:xfrm>
          <a:prstGeom prst="rect">
            <a:avLst/>
          </a:prstGeom>
        </p:spPr>
      </p:pic>
      <p:sp>
        <p:nvSpPr>
          <p:cNvPr id="11" name="trivy text"/>
          <p:cNvSpPr txBox="1"/>
          <p:nvPr/>
        </p:nvSpPr>
        <p:spPr>
          <a:xfrm>
            <a:off x="1143000" y="2990088"/>
            <a:ext cx="3154680" cy="685800"/>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Trivy scanning</a:t>
            </a:r>
            <a:endParaRPr lang="en-US" sz="1600" dirty="0"/>
          </a:p>
          <a:p>
            <a:pPr indent="0" marL="0">
              <a:spcAft>
                <a:spcPts val="200"/>
              </a:spcAft>
              <a:buNone/>
            </a:pPr>
            <a:r>
              <a:rPr lang="en-US" sz="1400" dirty="0">
                <a:solidFill>
                  <a:schemeClr val="accent6"/>
                </a:solidFill>
              </a:rPr>
              <a:t>Every build is checked; serious CVEs block release</a:t>
            </a:r>
            <a:endParaRPr lang="en-US" sz="1600" dirty="0"/>
          </a:p>
        </p:txBody>
      </p:sp>
      <p:sp>
        <p:nvSpPr>
          <p:cNvPr id="12" name="15-docker-nonroot.png frame"/>
          <p:cNvSpPr/>
          <p:nvPr/>
        </p:nvSpPr>
        <p:spPr>
          <a:xfrm>
            <a:off x="4535424" y="1243584"/>
            <a:ext cx="4187952" cy="945490"/>
          </a:xfrm>
          <a:prstGeom prst="rect">
            <a:avLst/>
          </a:prstGeom>
          <a:solidFill>
            <a:schemeClr val="bg1"/>
          </a:solidFill>
          <a:ln w="9525">
            <a:solidFill>
              <a:srgbClr val="CBD5E1"/>
            </a:solidFill>
            <a:prstDash val="solid"/>
          </a:ln>
          <a:effectLst>
            <a:outerShdw sx="100000" sy="100000" kx="0" ky="0" algn="bl" rotWithShape="0" blurRad="76200" dist="25400" dir="5400000">
              <a:srgbClr val="000000">
                <a:alpha val="18000"/>
              </a:srgbClr>
            </a:outerShdw>
          </a:effectLst>
        </p:spPr>
      </p:sp>
      <p:pic>
        <p:nvPicPr>
          <p:cNvPr id="13" name="15-docker-nonroot.png" descr="15-docker-nonroot.png">    </p:cNvPr>
          <p:cNvPicPr>
            <a:picLocks noChangeAspect="1"/>
          </p:cNvPicPr>
          <p:nvPr/>
        </p:nvPicPr>
        <p:blipFill>
          <a:blip r:embed="rId4"/>
          <a:stretch>
            <a:fillRect/>
          </a:stretch>
        </p:blipFill>
        <p:spPr>
          <a:xfrm>
            <a:off x="4572000" y="1280160"/>
            <a:ext cx="4114800" cy="872338"/>
          </a:xfrm>
          <a:prstGeom prst="rect">
            <a:avLst/>
          </a:prstGeom>
        </p:spPr>
      </p:pic>
      <p:sp>
        <p:nvSpPr>
          <p:cNvPr id="14" name="15-docker-nonroot.png caption"/>
          <p:cNvSpPr txBox="1"/>
          <p:nvPr/>
        </p:nvSpPr>
        <p:spPr>
          <a:xfrm>
            <a:off x="4572000" y="2243938"/>
            <a:ext cx="4114800" cy="274320"/>
          </a:xfrm>
          <a:prstGeom prst="rect">
            <a:avLst/>
          </a:prstGeom>
          <a:noFill/>
          <a:ln/>
        </p:spPr>
        <p:txBody>
          <a:bodyPr wrap="square" lIns="0" tIns="0" rIns="0" bIns="0" rtlCol="0" anchor="ctr"/>
          <a:lstStyle/>
          <a:p>
            <a:pPr indent="0" marL="0">
              <a:buNone/>
            </a:pPr>
            <a:r>
              <a:rPr lang="en-US" sz="1100" i="1" dirty="0">
                <a:solidFill>
                  <a:schemeClr val="accent4"/>
                </a:solidFill>
              </a:rPr>
              <a:t>Both containers run as non-root users</a:t>
            </a:r>
            <a:endParaRPr lang="en-US" sz="1100" dirty="0"/>
          </a:p>
        </p:txBody>
      </p:sp>
      <p:sp>
        <p:nvSpPr>
          <p:cNvPr id="15" name="13-trivy-scan.png frame"/>
          <p:cNvSpPr/>
          <p:nvPr/>
        </p:nvSpPr>
        <p:spPr>
          <a:xfrm>
            <a:off x="4699197" y="2569464"/>
            <a:ext cx="3860406" cy="1764792"/>
          </a:xfrm>
          <a:prstGeom prst="rect">
            <a:avLst/>
          </a:prstGeom>
          <a:solidFill>
            <a:schemeClr val="bg1"/>
          </a:solidFill>
          <a:ln w="9525">
            <a:solidFill>
              <a:srgbClr val="CBD5E1"/>
            </a:solidFill>
            <a:prstDash val="solid"/>
          </a:ln>
          <a:effectLst>
            <a:outerShdw sx="100000" sy="100000" kx="0" ky="0" algn="bl" rotWithShape="0" blurRad="76200" dist="25400" dir="5400000">
              <a:srgbClr val="000000">
                <a:alpha val="18000"/>
              </a:srgbClr>
            </a:outerShdw>
          </a:effectLst>
        </p:spPr>
      </p:sp>
      <p:pic>
        <p:nvPicPr>
          <p:cNvPr id="16" name="13-trivy-scan.png" descr="13-trivy-scan.png">    </p:cNvPr>
          <p:cNvPicPr>
            <a:picLocks noChangeAspect="1"/>
          </p:cNvPicPr>
          <p:nvPr/>
        </p:nvPicPr>
        <p:blipFill>
          <a:blip r:embed="rId5"/>
          <a:stretch>
            <a:fillRect/>
          </a:stretch>
        </p:blipFill>
        <p:spPr>
          <a:xfrm>
            <a:off x="4735773" y="2606040"/>
            <a:ext cx="3787254" cy="1691640"/>
          </a:xfrm>
          <a:prstGeom prst="rect">
            <a:avLst/>
          </a:prstGeom>
        </p:spPr>
      </p:pic>
      <p:sp>
        <p:nvSpPr>
          <p:cNvPr id="17" name="13-trivy-scan.png caption"/>
          <p:cNvSpPr txBox="1"/>
          <p:nvPr/>
        </p:nvSpPr>
        <p:spPr>
          <a:xfrm>
            <a:off x="4735773" y="4389120"/>
            <a:ext cx="3787254" cy="274320"/>
          </a:xfrm>
          <a:prstGeom prst="rect">
            <a:avLst/>
          </a:prstGeom>
          <a:noFill/>
          <a:ln/>
        </p:spPr>
        <p:txBody>
          <a:bodyPr wrap="square" lIns="0" tIns="0" rIns="0" bIns="0" rtlCol="0" anchor="ctr"/>
          <a:lstStyle/>
          <a:p>
            <a:pPr indent="0" marL="0">
              <a:buNone/>
            </a:pPr>
            <a:r>
              <a:rPr lang="en-US" sz="1100" i="1" dirty="0">
                <a:solidFill>
                  <a:schemeClr val="accent4"/>
                </a:solidFill>
              </a:rPr>
              <a:t>Trivy: 0 HIGH/CRITICAL vulnerabilities</a:t>
            </a:r>
            <a:endParaRPr lang="en-US" sz="11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CI/CD: from push to production</a:t>
            </a:r>
            <a:endParaRPr lang="en-US" sz="3000" dirty="0"/>
          </a:p>
        </p:txBody>
      </p:sp>
      <p:sp>
        <p:nvSpPr>
          <p:cNvPr id="3" name="Push circle"/>
          <p:cNvSpPr/>
          <p:nvPr/>
        </p:nvSpPr>
        <p:spPr>
          <a:xfrm>
            <a:off x="685800" y="1097280"/>
            <a:ext cx="548640" cy="548640"/>
          </a:xfrm>
          <a:prstGeom prst="ellipse">
            <a:avLst/>
          </a:prstGeom>
          <a:solidFill>
            <a:schemeClr val="accent1"/>
          </a:solidFill>
          <a:ln/>
        </p:spPr>
      </p:sp>
      <p:pic>
        <p:nvPicPr>
          <p:cNvPr id="4" name="Push icon" descr="preencoded.png">    </p:cNvPr>
          <p:cNvPicPr>
            <a:picLocks noChangeAspect="1"/>
          </p:cNvPicPr>
          <p:nvPr/>
        </p:nvPicPr>
        <p:blipFill>
          <a:blip r:embed="rId1"/>
          <a:stretch>
            <a:fillRect/>
          </a:stretch>
        </p:blipFill>
        <p:spPr>
          <a:xfrm>
            <a:off x="817474" y="1228954"/>
            <a:ext cx="285293" cy="285293"/>
          </a:xfrm>
          <a:prstGeom prst="rect">
            <a:avLst/>
          </a:prstGeom>
        </p:spPr>
      </p:pic>
      <p:sp>
        <p:nvSpPr>
          <p:cNvPr id="5" name="Text 2"/>
          <p:cNvSpPr txBox="1"/>
          <p:nvPr/>
        </p:nvSpPr>
        <p:spPr>
          <a:xfrm>
            <a:off x="274320" y="1691640"/>
            <a:ext cx="1371600" cy="274320"/>
          </a:xfrm>
          <a:prstGeom prst="rect">
            <a:avLst/>
          </a:prstGeom>
          <a:noFill/>
          <a:ln/>
        </p:spPr>
        <p:txBody>
          <a:bodyPr wrap="square" lIns="0" tIns="0" rIns="0" bIns="0" rtlCol="0" anchor="ctr"/>
          <a:lstStyle/>
          <a:p>
            <a:pPr algn="ctr" indent="0" marL="0">
              <a:buNone/>
            </a:pPr>
            <a:r>
              <a:rPr lang="en-US" sz="1300" b="1" dirty="0">
                <a:solidFill>
                  <a:schemeClr val="tx1"/>
                </a:solidFill>
              </a:rPr>
              <a:t>Push</a:t>
            </a:r>
            <a:endParaRPr lang="en-US" sz="1300" dirty="0"/>
          </a:p>
        </p:txBody>
      </p:sp>
      <p:sp>
        <p:nvSpPr>
          <p:cNvPr id="6" name="Shape 3"/>
          <p:cNvSpPr/>
          <p:nvPr/>
        </p:nvSpPr>
        <p:spPr>
          <a:xfrm>
            <a:off x="1325880" y="1371600"/>
            <a:ext cx="1005840" cy="0"/>
          </a:xfrm>
          <a:prstGeom prst="line">
            <a:avLst/>
          </a:prstGeom>
          <a:noFill/>
          <a:ln w="19050">
            <a:solidFill>
              <a:schemeClr val="accent4"/>
            </a:solidFill>
            <a:prstDash val="solid"/>
            <a:tailEnd type="triangle"/>
          </a:ln>
        </p:spPr>
      </p:sp>
      <p:sp>
        <p:nvSpPr>
          <p:cNvPr id="7" name="Test circle"/>
          <p:cNvSpPr/>
          <p:nvPr/>
        </p:nvSpPr>
        <p:spPr>
          <a:xfrm>
            <a:off x="2423160" y="1097280"/>
            <a:ext cx="548640" cy="548640"/>
          </a:xfrm>
          <a:prstGeom prst="ellipse">
            <a:avLst/>
          </a:prstGeom>
          <a:solidFill>
            <a:schemeClr val="accent1"/>
          </a:solidFill>
          <a:ln/>
        </p:spPr>
      </p:sp>
      <p:pic>
        <p:nvPicPr>
          <p:cNvPr id="8" name="Test icon" descr="preencoded.png">    </p:cNvPr>
          <p:cNvPicPr>
            <a:picLocks noChangeAspect="1"/>
          </p:cNvPicPr>
          <p:nvPr/>
        </p:nvPicPr>
        <p:blipFill>
          <a:blip r:embed="rId2"/>
          <a:stretch>
            <a:fillRect/>
          </a:stretch>
        </p:blipFill>
        <p:spPr>
          <a:xfrm>
            <a:off x="2554834" y="1228954"/>
            <a:ext cx="285293" cy="285293"/>
          </a:xfrm>
          <a:prstGeom prst="rect">
            <a:avLst/>
          </a:prstGeom>
        </p:spPr>
      </p:pic>
      <p:sp>
        <p:nvSpPr>
          <p:cNvPr id="9" name="Text 5"/>
          <p:cNvSpPr txBox="1"/>
          <p:nvPr/>
        </p:nvSpPr>
        <p:spPr>
          <a:xfrm>
            <a:off x="2011680" y="1691640"/>
            <a:ext cx="1371600" cy="274320"/>
          </a:xfrm>
          <a:prstGeom prst="rect">
            <a:avLst/>
          </a:prstGeom>
          <a:noFill/>
          <a:ln/>
        </p:spPr>
        <p:txBody>
          <a:bodyPr wrap="square" lIns="0" tIns="0" rIns="0" bIns="0" rtlCol="0" anchor="ctr"/>
          <a:lstStyle/>
          <a:p>
            <a:pPr algn="ctr" indent="0" marL="0">
              <a:buNone/>
            </a:pPr>
            <a:r>
              <a:rPr lang="en-US" sz="1300" b="1" dirty="0">
                <a:solidFill>
                  <a:schemeClr val="tx1"/>
                </a:solidFill>
              </a:rPr>
              <a:t>Test</a:t>
            </a:r>
            <a:endParaRPr lang="en-US" sz="1300" dirty="0"/>
          </a:p>
        </p:txBody>
      </p:sp>
      <p:sp>
        <p:nvSpPr>
          <p:cNvPr id="10" name="Shape 6"/>
          <p:cNvSpPr/>
          <p:nvPr/>
        </p:nvSpPr>
        <p:spPr>
          <a:xfrm>
            <a:off x="3063240" y="1371600"/>
            <a:ext cx="1005840" cy="0"/>
          </a:xfrm>
          <a:prstGeom prst="line">
            <a:avLst/>
          </a:prstGeom>
          <a:noFill/>
          <a:ln w="19050">
            <a:solidFill>
              <a:schemeClr val="accent4"/>
            </a:solidFill>
            <a:prstDash val="solid"/>
            <a:tailEnd type="triangle"/>
          </a:ln>
        </p:spPr>
      </p:sp>
      <p:sp>
        <p:nvSpPr>
          <p:cNvPr id="11" name="Build &amp; scan circle"/>
          <p:cNvSpPr/>
          <p:nvPr/>
        </p:nvSpPr>
        <p:spPr>
          <a:xfrm>
            <a:off x="4160520" y="1097280"/>
            <a:ext cx="548640" cy="548640"/>
          </a:xfrm>
          <a:prstGeom prst="ellipse">
            <a:avLst/>
          </a:prstGeom>
          <a:solidFill>
            <a:schemeClr val="accent1"/>
          </a:solidFill>
          <a:ln/>
        </p:spPr>
      </p:sp>
      <p:pic>
        <p:nvPicPr>
          <p:cNvPr id="12" name="Build &amp; scan icon" descr="preencoded.png">    </p:cNvPr>
          <p:cNvPicPr>
            <a:picLocks noChangeAspect="1"/>
          </p:cNvPicPr>
          <p:nvPr/>
        </p:nvPicPr>
        <p:blipFill>
          <a:blip r:embed="rId3"/>
          <a:stretch>
            <a:fillRect/>
          </a:stretch>
        </p:blipFill>
        <p:spPr>
          <a:xfrm>
            <a:off x="4292194" y="1228954"/>
            <a:ext cx="285293" cy="285293"/>
          </a:xfrm>
          <a:prstGeom prst="rect">
            <a:avLst/>
          </a:prstGeom>
        </p:spPr>
      </p:pic>
      <p:sp>
        <p:nvSpPr>
          <p:cNvPr id="13" name="Text 8"/>
          <p:cNvSpPr txBox="1"/>
          <p:nvPr/>
        </p:nvSpPr>
        <p:spPr>
          <a:xfrm>
            <a:off x="3749040" y="1691640"/>
            <a:ext cx="1371600" cy="274320"/>
          </a:xfrm>
          <a:prstGeom prst="rect">
            <a:avLst/>
          </a:prstGeom>
          <a:noFill/>
          <a:ln/>
        </p:spPr>
        <p:txBody>
          <a:bodyPr wrap="square" lIns="0" tIns="0" rIns="0" bIns="0" rtlCol="0" anchor="ctr"/>
          <a:lstStyle/>
          <a:p>
            <a:pPr algn="ctr" indent="0" marL="0">
              <a:buNone/>
            </a:pPr>
            <a:r>
              <a:rPr lang="en-US" sz="1300" b="1" dirty="0">
                <a:solidFill>
                  <a:schemeClr val="tx1"/>
                </a:solidFill>
              </a:rPr>
              <a:t>Build &amp; scan</a:t>
            </a:r>
            <a:endParaRPr lang="en-US" sz="1300" dirty="0"/>
          </a:p>
        </p:txBody>
      </p:sp>
      <p:sp>
        <p:nvSpPr>
          <p:cNvPr id="14" name="Shape 9"/>
          <p:cNvSpPr/>
          <p:nvPr/>
        </p:nvSpPr>
        <p:spPr>
          <a:xfrm>
            <a:off x="4800600" y="1371600"/>
            <a:ext cx="1005840" cy="0"/>
          </a:xfrm>
          <a:prstGeom prst="line">
            <a:avLst/>
          </a:prstGeom>
          <a:noFill/>
          <a:ln w="19050">
            <a:solidFill>
              <a:schemeClr val="accent4"/>
            </a:solidFill>
            <a:prstDash val="solid"/>
            <a:tailEnd type="triangle"/>
          </a:ln>
        </p:spPr>
      </p:sp>
      <p:sp>
        <p:nvSpPr>
          <p:cNvPr id="15" name="Publish image circle"/>
          <p:cNvSpPr/>
          <p:nvPr/>
        </p:nvSpPr>
        <p:spPr>
          <a:xfrm>
            <a:off x="5897880" y="1097280"/>
            <a:ext cx="548640" cy="548640"/>
          </a:xfrm>
          <a:prstGeom prst="ellipse">
            <a:avLst/>
          </a:prstGeom>
          <a:solidFill>
            <a:schemeClr val="accent1"/>
          </a:solidFill>
          <a:ln/>
        </p:spPr>
      </p:sp>
      <p:pic>
        <p:nvPicPr>
          <p:cNvPr id="16" name="Publish image icon" descr="preencoded.png">    </p:cNvPr>
          <p:cNvPicPr>
            <a:picLocks noChangeAspect="1"/>
          </p:cNvPicPr>
          <p:nvPr/>
        </p:nvPicPr>
        <p:blipFill>
          <a:blip r:embed="rId4"/>
          <a:stretch>
            <a:fillRect/>
          </a:stretch>
        </p:blipFill>
        <p:spPr>
          <a:xfrm>
            <a:off x="6029554" y="1228954"/>
            <a:ext cx="285293" cy="285293"/>
          </a:xfrm>
          <a:prstGeom prst="rect">
            <a:avLst/>
          </a:prstGeom>
        </p:spPr>
      </p:pic>
      <p:sp>
        <p:nvSpPr>
          <p:cNvPr id="17" name="Text 11"/>
          <p:cNvSpPr txBox="1"/>
          <p:nvPr/>
        </p:nvSpPr>
        <p:spPr>
          <a:xfrm>
            <a:off x="5486400" y="1691640"/>
            <a:ext cx="1371600" cy="274320"/>
          </a:xfrm>
          <a:prstGeom prst="rect">
            <a:avLst/>
          </a:prstGeom>
          <a:noFill/>
          <a:ln/>
        </p:spPr>
        <p:txBody>
          <a:bodyPr wrap="square" lIns="0" tIns="0" rIns="0" bIns="0" rtlCol="0" anchor="ctr"/>
          <a:lstStyle/>
          <a:p>
            <a:pPr algn="ctr" indent="0" marL="0">
              <a:buNone/>
            </a:pPr>
            <a:r>
              <a:rPr lang="en-US" sz="1300" b="1" dirty="0">
                <a:solidFill>
                  <a:schemeClr val="tx1"/>
                </a:solidFill>
              </a:rPr>
              <a:t>Publish image</a:t>
            </a:r>
            <a:endParaRPr lang="en-US" sz="1300" dirty="0"/>
          </a:p>
        </p:txBody>
      </p:sp>
      <p:sp>
        <p:nvSpPr>
          <p:cNvPr id="18" name="Shape 12"/>
          <p:cNvSpPr/>
          <p:nvPr/>
        </p:nvSpPr>
        <p:spPr>
          <a:xfrm>
            <a:off x="6537960" y="1371600"/>
            <a:ext cx="1005840" cy="0"/>
          </a:xfrm>
          <a:prstGeom prst="line">
            <a:avLst/>
          </a:prstGeom>
          <a:noFill/>
          <a:ln w="19050">
            <a:solidFill>
              <a:schemeClr val="accent4"/>
            </a:solidFill>
            <a:prstDash val="solid"/>
            <a:tailEnd type="triangle"/>
          </a:ln>
        </p:spPr>
      </p:sp>
      <p:sp>
        <p:nvSpPr>
          <p:cNvPr id="19" name="Deploy circle"/>
          <p:cNvSpPr/>
          <p:nvPr/>
        </p:nvSpPr>
        <p:spPr>
          <a:xfrm>
            <a:off x="7635240" y="1097280"/>
            <a:ext cx="548640" cy="548640"/>
          </a:xfrm>
          <a:prstGeom prst="ellipse">
            <a:avLst/>
          </a:prstGeom>
          <a:solidFill>
            <a:schemeClr val="accent1"/>
          </a:solidFill>
          <a:ln/>
        </p:spPr>
      </p:sp>
      <p:pic>
        <p:nvPicPr>
          <p:cNvPr id="20" name="Deploy icon" descr="preencoded.png">    </p:cNvPr>
          <p:cNvPicPr>
            <a:picLocks noChangeAspect="1"/>
          </p:cNvPicPr>
          <p:nvPr/>
        </p:nvPicPr>
        <p:blipFill>
          <a:blip r:embed="rId5"/>
          <a:stretch>
            <a:fillRect/>
          </a:stretch>
        </p:blipFill>
        <p:spPr>
          <a:xfrm>
            <a:off x="7766914" y="1228954"/>
            <a:ext cx="285293" cy="285293"/>
          </a:xfrm>
          <a:prstGeom prst="rect">
            <a:avLst/>
          </a:prstGeom>
        </p:spPr>
      </p:pic>
      <p:sp>
        <p:nvSpPr>
          <p:cNvPr id="21" name="Text 14"/>
          <p:cNvSpPr txBox="1"/>
          <p:nvPr/>
        </p:nvSpPr>
        <p:spPr>
          <a:xfrm>
            <a:off x="7223760" y="1691640"/>
            <a:ext cx="1371600" cy="274320"/>
          </a:xfrm>
          <a:prstGeom prst="rect">
            <a:avLst/>
          </a:prstGeom>
          <a:noFill/>
          <a:ln/>
        </p:spPr>
        <p:txBody>
          <a:bodyPr wrap="square" lIns="0" tIns="0" rIns="0" bIns="0" rtlCol="0" anchor="ctr"/>
          <a:lstStyle/>
          <a:p>
            <a:pPr algn="ctr" indent="0" marL="0">
              <a:buNone/>
            </a:pPr>
            <a:r>
              <a:rPr lang="en-US" sz="1300" b="1" dirty="0">
                <a:solidFill>
                  <a:schemeClr val="tx1"/>
                </a:solidFill>
              </a:rPr>
              <a:t>Deploy</a:t>
            </a:r>
            <a:endParaRPr lang="en-US" sz="1300" dirty="0"/>
          </a:p>
        </p:txBody>
      </p:sp>
      <p:sp>
        <p:nvSpPr>
          <p:cNvPr id="22" name="Text 15"/>
          <p:cNvSpPr txBox="1"/>
          <p:nvPr/>
        </p:nvSpPr>
        <p:spPr>
          <a:xfrm>
            <a:off x="457200" y="2331720"/>
            <a:ext cx="3291840" cy="2011680"/>
          </a:xfrm>
          <a:prstGeom prst="rect">
            <a:avLst/>
          </a:prstGeom>
          <a:noFill/>
          <a:ln/>
        </p:spPr>
        <p:txBody>
          <a:bodyPr wrap="square" lIns="0" tIns="0" rIns="0" bIns="0" rtlCol="0" anchor="t"/>
          <a:lstStyle/>
          <a:p>
            <a:pPr indent="0" marL="0">
              <a:spcAft>
                <a:spcPts val="600"/>
              </a:spcAft>
              <a:buNone/>
            </a:pPr>
            <a:r>
              <a:rPr lang="en-US" sz="1600" b="1" dirty="0">
                <a:solidFill>
                  <a:schemeClr val="tx1"/>
                </a:solidFill>
              </a:rPr>
              <a:t>Why GitHub Actions?</a:t>
            </a:r>
            <a:endParaRPr lang="en-US" sz="1400" dirty="0"/>
          </a:p>
          <a:p>
            <a:pPr marL="342900" indent="-342900">
              <a:spcAft>
                <a:spcPts val="600"/>
              </a:spcAft>
              <a:buSzPct val="100000"/>
              <a:buChar char="•"/>
            </a:pPr>
            <a:r>
              <a:rPr lang="en-US" sz="1400" dirty="0">
                <a:solidFill>
                  <a:schemeClr val="accent6"/>
                </a:solidFill>
              </a:rPr>
              <a:t>Lives next to the code, no extra servers</a:t>
            </a:r>
            <a:endParaRPr lang="en-US" sz="1400" dirty="0"/>
          </a:p>
          <a:p>
            <a:pPr marL="342900" indent="-342900">
              <a:spcAft>
                <a:spcPts val="600"/>
              </a:spcAft>
              <a:buSzPct val="100000"/>
              <a:buChar char="•"/>
            </a:pPr>
            <a:r>
              <a:rPr lang="en-US" sz="1400" dirty="0">
                <a:solidFill>
                  <a:schemeClr val="accent6"/>
                </a:solidFill>
              </a:rPr>
              <a:t>Every push is tested and scanned</a:t>
            </a:r>
            <a:endParaRPr lang="en-US" sz="1400" dirty="0"/>
          </a:p>
          <a:p>
            <a:pPr marL="342900" indent="-342900">
              <a:spcAft>
                <a:spcPts val="600"/>
              </a:spcAft>
              <a:buSzPct val="100000"/>
              <a:buChar char="•"/>
            </a:pPr>
            <a:r>
              <a:rPr lang="en-US" sz="1400" dirty="0">
                <a:solidFill>
                  <a:schemeClr val="accent6"/>
                </a:solidFill>
              </a:rPr>
              <a:t>Live on the cluster in under 3 minutes</a:t>
            </a:r>
            <a:endParaRPr lang="en-US" sz="1400" dirty="0"/>
          </a:p>
        </p:txBody>
      </p:sp>
      <p:sp>
        <p:nvSpPr>
          <p:cNvPr id="23" name="02-actions-run.png frame"/>
          <p:cNvSpPr/>
          <p:nvPr/>
        </p:nvSpPr>
        <p:spPr>
          <a:xfrm>
            <a:off x="3986784" y="2340864"/>
            <a:ext cx="4736592" cy="1656702"/>
          </a:xfrm>
          <a:prstGeom prst="rect">
            <a:avLst/>
          </a:prstGeom>
          <a:solidFill>
            <a:schemeClr val="bg1"/>
          </a:solidFill>
          <a:ln w="9525">
            <a:solidFill>
              <a:srgbClr val="CBD5E1"/>
            </a:solidFill>
            <a:prstDash val="solid"/>
          </a:ln>
          <a:effectLst>
            <a:outerShdw sx="100000" sy="100000" kx="0" ky="0" algn="bl" rotWithShape="0" blurRad="76200" dist="25400" dir="5400000">
              <a:srgbClr val="000000">
                <a:alpha val="18000"/>
              </a:srgbClr>
            </a:outerShdw>
          </a:effectLst>
        </p:spPr>
      </p:sp>
      <p:pic>
        <p:nvPicPr>
          <p:cNvPr id="24" name="02-actions-run.png" descr="02-actions-run.png">    </p:cNvPr>
          <p:cNvPicPr>
            <a:picLocks noChangeAspect="1"/>
          </p:cNvPicPr>
          <p:nvPr/>
        </p:nvPicPr>
        <p:blipFill>
          <a:blip r:embed="rId6"/>
          <a:stretch>
            <a:fillRect/>
          </a:stretch>
        </p:blipFill>
        <p:spPr>
          <a:xfrm>
            <a:off x="4023360" y="2377440"/>
            <a:ext cx="4663440" cy="1583550"/>
          </a:xfrm>
          <a:prstGeom prst="rect">
            <a:avLst/>
          </a:prstGeom>
        </p:spPr>
      </p:pic>
      <p:sp>
        <p:nvSpPr>
          <p:cNvPr id="25" name="02-actions-run.png caption"/>
          <p:cNvSpPr txBox="1"/>
          <p:nvPr/>
        </p:nvSpPr>
        <p:spPr>
          <a:xfrm>
            <a:off x="4023360" y="4052430"/>
            <a:ext cx="4663440" cy="274320"/>
          </a:xfrm>
          <a:prstGeom prst="rect">
            <a:avLst/>
          </a:prstGeom>
          <a:noFill/>
          <a:ln/>
        </p:spPr>
        <p:txBody>
          <a:bodyPr wrap="square" lIns="0" tIns="0" rIns="0" bIns="0" rtlCol="0" anchor="ctr"/>
          <a:lstStyle/>
          <a:p>
            <a:pPr indent="0" marL="0">
              <a:buNone/>
            </a:pPr>
            <a:r>
              <a:rPr lang="en-US" sz="1100" i="1" dirty="0">
                <a:solidFill>
                  <a:schemeClr val="accent4"/>
                </a:solidFill>
              </a:rPr>
              <a:t>A real pipeline run: test → build-scan-push → deploy (2m 22s)</a:t>
            </a:r>
            <a:endParaRPr lang="en-US" sz="11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Kubernetes (AWS EKS) + Helm</a:t>
            </a:r>
            <a:endParaRPr lang="en-US" sz="3000" dirty="0"/>
          </a:p>
        </p:txBody>
      </p:sp>
      <p:sp>
        <p:nvSpPr>
          <p:cNvPr id="3" name="09-k8s-state.png frame"/>
          <p:cNvSpPr/>
          <p:nvPr/>
        </p:nvSpPr>
        <p:spPr>
          <a:xfrm>
            <a:off x="420624" y="1243584"/>
            <a:ext cx="4645152" cy="2115312"/>
          </a:xfrm>
          <a:prstGeom prst="rect">
            <a:avLst/>
          </a:prstGeom>
          <a:solidFill>
            <a:schemeClr val="bg1"/>
          </a:solidFill>
          <a:ln w="9525">
            <a:solidFill>
              <a:srgbClr val="CBD5E1"/>
            </a:solidFill>
            <a:prstDash val="solid"/>
          </a:ln>
          <a:effectLst>
            <a:outerShdw sx="100000" sy="100000" kx="0" ky="0" algn="bl" rotWithShape="0" blurRad="76200" dist="25400" dir="5400000">
              <a:srgbClr val="000000">
                <a:alpha val="18000"/>
              </a:srgbClr>
            </a:outerShdw>
          </a:effectLst>
        </p:spPr>
      </p:sp>
      <p:pic>
        <p:nvPicPr>
          <p:cNvPr id="4" name="09-k8s-state.png" descr="09-k8s-state.png">    </p:cNvPr>
          <p:cNvPicPr>
            <a:picLocks noChangeAspect="1"/>
          </p:cNvPicPr>
          <p:nvPr/>
        </p:nvPicPr>
        <p:blipFill>
          <a:blip r:embed="rId1"/>
          <a:stretch>
            <a:fillRect/>
          </a:stretch>
        </p:blipFill>
        <p:spPr>
          <a:xfrm>
            <a:off x="457200" y="1280160"/>
            <a:ext cx="4572000" cy="2042160"/>
          </a:xfrm>
          <a:prstGeom prst="rect">
            <a:avLst/>
          </a:prstGeom>
        </p:spPr>
      </p:pic>
      <p:sp>
        <p:nvSpPr>
          <p:cNvPr id="5" name="09-k8s-state.png caption"/>
          <p:cNvSpPr txBox="1"/>
          <p:nvPr/>
        </p:nvSpPr>
        <p:spPr>
          <a:xfrm>
            <a:off x="457200" y="3413760"/>
            <a:ext cx="4572000" cy="274320"/>
          </a:xfrm>
          <a:prstGeom prst="rect">
            <a:avLst/>
          </a:prstGeom>
          <a:noFill/>
          <a:ln/>
        </p:spPr>
        <p:txBody>
          <a:bodyPr wrap="square" lIns="0" tIns="0" rIns="0" bIns="0" rtlCol="0" anchor="ctr"/>
          <a:lstStyle/>
          <a:p>
            <a:pPr indent="0" marL="0">
              <a:buNone/>
            </a:pPr>
            <a:r>
              <a:rPr lang="en-US" sz="1100" i="1" dirty="0">
                <a:solidFill>
                  <a:schemeClr val="accent4"/>
                </a:solidFill>
              </a:rPr>
              <a:t>Pods, services, ingress and autoscaler all running</a:t>
            </a:r>
            <a:endParaRPr lang="en-US" sz="1100" dirty="0"/>
          </a:p>
        </p:txBody>
      </p:sp>
      <p:sp>
        <p:nvSpPr>
          <p:cNvPr id="6" name="k8s circle"/>
          <p:cNvSpPr/>
          <p:nvPr/>
        </p:nvSpPr>
        <p:spPr>
          <a:xfrm>
            <a:off x="5394960" y="1234440"/>
            <a:ext cx="502920" cy="502920"/>
          </a:xfrm>
          <a:prstGeom prst="ellipse">
            <a:avLst/>
          </a:prstGeom>
          <a:solidFill>
            <a:schemeClr val="accent1"/>
          </a:solidFill>
          <a:ln/>
        </p:spPr>
      </p:sp>
      <p:pic>
        <p:nvPicPr>
          <p:cNvPr id="7" name="k8s icon" descr="preencoded.png">    </p:cNvPr>
          <p:cNvPicPr>
            <a:picLocks noChangeAspect="1"/>
          </p:cNvPicPr>
          <p:nvPr/>
        </p:nvPicPr>
        <p:blipFill>
          <a:blip r:embed="rId2"/>
          <a:stretch>
            <a:fillRect/>
          </a:stretch>
        </p:blipFill>
        <p:spPr>
          <a:xfrm>
            <a:off x="5515661" y="1355141"/>
            <a:ext cx="261518" cy="261518"/>
          </a:xfrm>
          <a:prstGeom prst="rect">
            <a:avLst/>
          </a:prstGeom>
        </p:spPr>
      </p:pic>
      <p:sp>
        <p:nvSpPr>
          <p:cNvPr id="8" name="k8s text"/>
          <p:cNvSpPr txBox="1"/>
          <p:nvPr/>
        </p:nvSpPr>
        <p:spPr>
          <a:xfrm>
            <a:off x="6080760" y="1161288"/>
            <a:ext cx="2606040" cy="685800"/>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Self-healing</a:t>
            </a:r>
            <a:endParaRPr lang="en-US" sz="1600" dirty="0"/>
          </a:p>
          <a:p>
            <a:pPr indent="0" marL="0">
              <a:spcAft>
                <a:spcPts val="200"/>
              </a:spcAft>
              <a:buNone/>
            </a:pPr>
            <a:r>
              <a:rPr lang="en-US" sz="1400" dirty="0">
                <a:solidFill>
                  <a:schemeClr val="accent6"/>
                </a:solidFill>
              </a:rPr>
              <a:t>Crashed pods restart automatically</a:t>
            </a:r>
            <a:endParaRPr lang="en-US" sz="1600" dirty="0"/>
          </a:p>
        </p:txBody>
      </p:sp>
      <p:sp>
        <p:nvSpPr>
          <p:cNvPr id="9" name="hpa circle"/>
          <p:cNvSpPr/>
          <p:nvPr/>
        </p:nvSpPr>
        <p:spPr>
          <a:xfrm>
            <a:off x="5394960" y="2148840"/>
            <a:ext cx="502920" cy="502920"/>
          </a:xfrm>
          <a:prstGeom prst="ellipse">
            <a:avLst/>
          </a:prstGeom>
          <a:solidFill>
            <a:schemeClr val="accent1"/>
          </a:solidFill>
          <a:ln/>
        </p:spPr>
      </p:sp>
      <p:pic>
        <p:nvPicPr>
          <p:cNvPr id="10" name="hpa icon" descr="preencoded.png">    </p:cNvPr>
          <p:cNvPicPr>
            <a:picLocks noChangeAspect="1"/>
          </p:cNvPicPr>
          <p:nvPr/>
        </p:nvPicPr>
        <p:blipFill>
          <a:blip r:embed="rId3"/>
          <a:stretch>
            <a:fillRect/>
          </a:stretch>
        </p:blipFill>
        <p:spPr>
          <a:xfrm>
            <a:off x="5515661" y="2269541"/>
            <a:ext cx="261518" cy="261518"/>
          </a:xfrm>
          <a:prstGeom prst="rect">
            <a:avLst/>
          </a:prstGeom>
        </p:spPr>
      </p:pic>
      <p:sp>
        <p:nvSpPr>
          <p:cNvPr id="11" name="hpa text"/>
          <p:cNvSpPr txBox="1"/>
          <p:nvPr/>
        </p:nvSpPr>
        <p:spPr>
          <a:xfrm>
            <a:off x="6080760" y="2075688"/>
            <a:ext cx="2606040" cy="685800"/>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Auto-scaling</a:t>
            </a:r>
            <a:endParaRPr lang="en-US" sz="1600" dirty="0"/>
          </a:p>
          <a:p>
            <a:pPr indent="0" marL="0">
              <a:spcAft>
                <a:spcPts val="200"/>
              </a:spcAft>
              <a:buNone/>
            </a:pPr>
            <a:r>
              <a:rPr lang="en-US" sz="1400" dirty="0">
                <a:solidFill>
                  <a:schemeClr val="accent6"/>
                </a:solidFill>
              </a:rPr>
              <a:t>Adds backend pods when traffic rises</a:t>
            </a:r>
            <a:endParaRPr lang="en-US" sz="1600" dirty="0"/>
          </a:p>
        </p:txBody>
      </p:sp>
      <p:sp>
        <p:nvSpPr>
          <p:cNvPr id="12" name="helm circle"/>
          <p:cNvSpPr/>
          <p:nvPr/>
        </p:nvSpPr>
        <p:spPr>
          <a:xfrm>
            <a:off x="5394960" y="3063240"/>
            <a:ext cx="502920" cy="502920"/>
          </a:xfrm>
          <a:prstGeom prst="ellipse">
            <a:avLst/>
          </a:prstGeom>
          <a:solidFill>
            <a:schemeClr val="accent1"/>
          </a:solidFill>
          <a:ln/>
        </p:spPr>
      </p:sp>
      <p:pic>
        <p:nvPicPr>
          <p:cNvPr id="13" name="helm icon" descr="preencoded.png">    </p:cNvPr>
          <p:cNvPicPr>
            <a:picLocks noChangeAspect="1"/>
          </p:cNvPicPr>
          <p:nvPr/>
        </p:nvPicPr>
        <p:blipFill>
          <a:blip r:embed="rId4"/>
          <a:stretch>
            <a:fillRect/>
          </a:stretch>
        </p:blipFill>
        <p:spPr>
          <a:xfrm>
            <a:off x="5515661" y="3183941"/>
            <a:ext cx="261518" cy="261518"/>
          </a:xfrm>
          <a:prstGeom prst="rect">
            <a:avLst/>
          </a:prstGeom>
        </p:spPr>
      </p:pic>
      <p:sp>
        <p:nvSpPr>
          <p:cNvPr id="14" name="helm text"/>
          <p:cNvSpPr txBox="1"/>
          <p:nvPr/>
        </p:nvSpPr>
        <p:spPr>
          <a:xfrm>
            <a:off x="6080760" y="2990088"/>
            <a:ext cx="2606040" cy="685800"/>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Helm charts</a:t>
            </a:r>
            <a:endParaRPr lang="en-US" sz="1600" dirty="0"/>
          </a:p>
          <a:p>
            <a:pPr indent="0" marL="0">
              <a:spcAft>
                <a:spcPts val="200"/>
              </a:spcAft>
              <a:buNone/>
            </a:pPr>
            <a:r>
              <a:rPr lang="en-US" sz="1400" dirty="0">
                <a:solidFill>
                  <a:schemeClr val="accent6"/>
                </a:solidFill>
              </a:rPr>
              <a:t>One versioned package; repeatable deploys</a:t>
            </a:r>
            <a:endParaRPr lang="en-US" sz="16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Infrastructure as code with Terraform</a:t>
            </a:r>
            <a:endParaRPr lang="en-US" sz="3000" dirty="0"/>
          </a:p>
        </p:txBody>
      </p:sp>
      <p:sp>
        <p:nvSpPr>
          <p:cNvPr id="3" name="terraform circle"/>
          <p:cNvSpPr/>
          <p:nvPr/>
        </p:nvSpPr>
        <p:spPr>
          <a:xfrm>
            <a:off x="457200" y="1188720"/>
            <a:ext cx="548640" cy="548640"/>
          </a:xfrm>
          <a:prstGeom prst="ellipse">
            <a:avLst/>
          </a:prstGeom>
          <a:solidFill>
            <a:schemeClr val="accent1"/>
          </a:solidFill>
          <a:ln/>
        </p:spPr>
      </p:sp>
      <p:pic>
        <p:nvPicPr>
          <p:cNvPr id="4" name="terraform icon" descr="preencoded.png">    </p:cNvPr>
          <p:cNvPicPr>
            <a:picLocks noChangeAspect="1"/>
          </p:cNvPicPr>
          <p:nvPr/>
        </p:nvPicPr>
        <p:blipFill>
          <a:blip r:embed="rId1"/>
          <a:stretch>
            <a:fillRect/>
          </a:stretch>
        </p:blipFill>
        <p:spPr>
          <a:xfrm>
            <a:off x="588874" y="1320394"/>
            <a:ext cx="285293" cy="285293"/>
          </a:xfrm>
          <a:prstGeom prst="rect">
            <a:avLst/>
          </a:prstGeom>
        </p:spPr>
      </p:pic>
      <p:sp>
        <p:nvSpPr>
          <p:cNvPr id="5" name="Text 2"/>
          <p:cNvSpPr txBox="1"/>
          <p:nvPr/>
        </p:nvSpPr>
        <p:spPr>
          <a:xfrm>
            <a:off x="457200" y="1828800"/>
            <a:ext cx="3291840" cy="914400"/>
          </a:xfrm>
          <a:prstGeom prst="rect">
            <a:avLst/>
          </a:prstGeom>
          <a:noFill/>
          <a:ln/>
        </p:spPr>
        <p:txBody>
          <a:bodyPr wrap="square" lIns="0" tIns="0" rIns="0" bIns="0" rtlCol="0" anchor="ctr"/>
          <a:lstStyle/>
          <a:p>
            <a:pPr indent="0" marL="0">
              <a:buNone/>
            </a:pPr>
            <a:r>
              <a:rPr lang="en-US" sz="6600" b="1" dirty="0">
                <a:solidFill>
                  <a:schemeClr val="accent1"/>
                </a:solidFill>
              </a:rPr>
              <a:t>68</a:t>
            </a:r>
            <a:endParaRPr lang="en-US" sz="6600" dirty="0"/>
          </a:p>
        </p:txBody>
      </p:sp>
      <p:sp>
        <p:nvSpPr>
          <p:cNvPr id="6" name="Text 3"/>
          <p:cNvSpPr txBox="1"/>
          <p:nvPr/>
        </p:nvSpPr>
        <p:spPr>
          <a:xfrm>
            <a:off x="457200" y="2743200"/>
            <a:ext cx="3291840" cy="320040"/>
          </a:xfrm>
          <a:prstGeom prst="rect">
            <a:avLst/>
          </a:prstGeom>
          <a:noFill/>
          <a:ln/>
        </p:spPr>
        <p:txBody>
          <a:bodyPr wrap="square" lIns="0" tIns="0" rIns="0" bIns="0" rtlCol="0" anchor="ctr"/>
          <a:lstStyle/>
          <a:p>
            <a:pPr indent="0" marL="0">
              <a:buNone/>
            </a:pPr>
            <a:r>
              <a:rPr lang="en-US" sz="1600" b="1" dirty="0">
                <a:solidFill>
                  <a:schemeClr val="tx1"/>
                </a:solidFill>
              </a:rPr>
              <a:t>AWS resources, all from code</a:t>
            </a:r>
            <a:endParaRPr lang="en-US" sz="1600" dirty="0"/>
          </a:p>
        </p:txBody>
      </p:sp>
      <p:sp>
        <p:nvSpPr>
          <p:cNvPr id="7" name="Text 4"/>
          <p:cNvSpPr txBox="1"/>
          <p:nvPr/>
        </p:nvSpPr>
        <p:spPr>
          <a:xfrm>
            <a:off x="457200" y="3200400"/>
            <a:ext cx="3291840" cy="9144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accent6"/>
                </a:solidFill>
              </a:rPr>
              <a:t>Rebuild the whole cloud in one command</a:t>
            </a:r>
            <a:endParaRPr lang="en-US" sz="1400" dirty="0"/>
          </a:p>
          <a:p>
            <a:pPr marL="342900" indent="-342900">
              <a:spcAft>
                <a:spcPts val="600"/>
              </a:spcAft>
              <a:buSzPct val="100000"/>
              <a:buChar char="•"/>
            </a:pPr>
            <a:r>
              <a:rPr lang="en-US" sz="1400" dirty="0">
                <a:solidFill>
                  <a:schemeClr val="accent6"/>
                </a:solidFill>
              </a:rPr>
              <a:t>Tear it down when idle to save cost</a:t>
            </a:r>
            <a:endParaRPr lang="en-US" sz="1400" dirty="0"/>
          </a:p>
        </p:txBody>
      </p:sp>
      <p:sp>
        <p:nvSpPr>
          <p:cNvPr id="8" name="14-terraform-outputs.png frame"/>
          <p:cNvSpPr/>
          <p:nvPr/>
        </p:nvSpPr>
        <p:spPr>
          <a:xfrm>
            <a:off x="4169664" y="1243584"/>
            <a:ext cx="4553712" cy="891601"/>
          </a:xfrm>
          <a:prstGeom prst="rect">
            <a:avLst/>
          </a:prstGeom>
          <a:solidFill>
            <a:schemeClr val="bg1"/>
          </a:solidFill>
          <a:ln w="9525">
            <a:solidFill>
              <a:srgbClr val="CBD5E1"/>
            </a:solidFill>
            <a:prstDash val="solid"/>
          </a:ln>
          <a:effectLst>
            <a:outerShdw sx="100000" sy="100000" kx="0" ky="0" algn="bl" rotWithShape="0" blurRad="76200" dist="25400" dir="5400000">
              <a:srgbClr val="000000">
                <a:alpha val="18000"/>
              </a:srgbClr>
            </a:outerShdw>
          </a:effectLst>
        </p:spPr>
      </p:sp>
      <p:pic>
        <p:nvPicPr>
          <p:cNvPr id="9" name="14-terraform-outputs.png" descr="14-terraform-outputs.png">    </p:cNvPr>
          <p:cNvPicPr>
            <a:picLocks noChangeAspect="1"/>
          </p:cNvPicPr>
          <p:nvPr/>
        </p:nvPicPr>
        <p:blipFill>
          <a:blip r:embed="rId2"/>
          <a:stretch>
            <a:fillRect/>
          </a:stretch>
        </p:blipFill>
        <p:spPr>
          <a:xfrm>
            <a:off x="4206240" y="1280160"/>
            <a:ext cx="4480560" cy="818449"/>
          </a:xfrm>
          <a:prstGeom prst="rect">
            <a:avLst/>
          </a:prstGeom>
        </p:spPr>
      </p:pic>
      <p:sp>
        <p:nvSpPr>
          <p:cNvPr id="10" name="14-terraform-outputs.png caption"/>
          <p:cNvSpPr txBox="1"/>
          <p:nvPr/>
        </p:nvSpPr>
        <p:spPr>
          <a:xfrm>
            <a:off x="4206240" y="2190049"/>
            <a:ext cx="4480560" cy="274320"/>
          </a:xfrm>
          <a:prstGeom prst="rect">
            <a:avLst/>
          </a:prstGeom>
          <a:noFill/>
          <a:ln/>
        </p:spPr>
        <p:txBody>
          <a:bodyPr wrap="square" lIns="0" tIns="0" rIns="0" bIns="0" rtlCol="0" anchor="ctr"/>
          <a:lstStyle/>
          <a:p>
            <a:pPr indent="0" marL="0">
              <a:buNone/>
            </a:pPr>
            <a:r>
              <a:rPr lang="en-US" sz="1100" i="1" dirty="0">
                <a:solidFill>
                  <a:schemeClr val="accent4"/>
                </a:solidFill>
              </a:rPr>
              <a:t>Terraform output: EKS cluster and VPC</a:t>
            </a:r>
            <a:endParaRPr lang="en-US" sz="1100" dirty="0"/>
          </a:p>
        </p:txBody>
      </p:sp>
      <p:sp>
        <p:nvSpPr>
          <p:cNvPr id="11" name="23-post-destroy-verify.png frame"/>
          <p:cNvSpPr/>
          <p:nvPr/>
        </p:nvSpPr>
        <p:spPr>
          <a:xfrm>
            <a:off x="4195855" y="2478024"/>
            <a:ext cx="4501331" cy="1856232"/>
          </a:xfrm>
          <a:prstGeom prst="rect">
            <a:avLst/>
          </a:prstGeom>
          <a:solidFill>
            <a:schemeClr val="bg1"/>
          </a:solidFill>
          <a:ln w="9525">
            <a:solidFill>
              <a:srgbClr val="CBD5E1"/>
            </a:solidFill>
            <a:prstDash val="solid"/>
          </a:ln>
          <a:effectLst>
            <a:outerShdw sx="100000" sy="100000" kx="0" ky="0" algn="bl" rotWithShape="0" blurRad="76200" dist="25400" dir="5400000">
              <a:srgbClr val="000000">
                <a:alpha val="18000"/>
              </a:srgbClr>
            </a:outerShdw>
          </a:effectLst>
        </p:spPr>
      </p:sp>
      <p:pic>
        <p:nvPicPr>
          <p:cNvPr id="12" name="23-post-destroy-verify.png" descr="23-post-destroy-verify.png">    </p:cNvPr>
          <p:cNvPicPr>
            <a:picLocks noChangeAspect="1"/>
          </p:cNvPicPr>
          <p:nvPr/>
        </p:nvPicPr>
        <p:blipFill>
          <a:blip r:embed="rId3"/>
          <a:stretch>
            <a:fillRect/>
          </a:stretch>
        </p:blipFill>
        <p:spPr>
          <a:xfrm>
            <a:off x="4232431" y="2514600"/>
            <a:ext cx="4428179" cy="1783080"/>
          </a:xfrm>
          <a:prstGeom prst="rect">
            <a:avLst/>
          </a:prstGeom>
        </p:spPr>
      </p:pic>
      <p:sp>
        <p:nvSpPr>
          <p:cNvPr id="13" name="23-post-destroy-verify.png caption"/>
          <p:cNvSpPr txBox="1"/>
          <p:nvPr/>
        </p:nvSpPr>
        <p:spPr>
          <a:xfrm>
            <a:off x="4232431" y="4389120"/>
            <a:ext cx="4428179" cy="274320"/>
          </a:xfrm>
          <a:prstGeom prst="rect">
            <a:avLst/>
          </a:prstGeom>
          <a:noFill/>
          <a:ln/>
        </p:spPr>
        <p:txBody>
          <a:bodyPr wrap="square" lIns="0" tIns="0" rIns="0" bIns="0" rtlCol="0" anchor="ctr"/>
          <a:lstStyle/>
          <a:p>
            <a:pPr indent="0" marL="0">
              <a:buNone/>
            </a:pPr>
            <a:r>
              <a:rPr lang="en-US" sz="1100" i="1" dirty="0">
                <a:solidFill>
                  <a:schemeClr val="accent4"/>
                </a:solidFill>
              </a:rPr>
              <a:t>After teardown: nothing left running</a:t>
            </a:r>
            <a:endParaRPr lang="en-US" sz="11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Monitoring with Prometheus &amp; Grafana</a:t>
            </a:r>
            <a:endParaRPr lang="en-US" sz="3000" dirty="0"/>
          </a:p>
        </p:txBody>
      </p:sp>
      <p:sp>
        <p:nvSpPr>
          <p:cNvPr id="3" name="06-grafana-dashboard.png frame"/>
          <p:cNvSpPr/>
          <p:nvPr/>
        </p:nvSpPr>
        <p:spPr>
          <a:xfrm>
            <a:off x="420624" y="1243584"/>
            <a:ext cx="5010912" cy="1724216"/>
          </a:xfrm>
          <a:prstGeom prst="rect">
            <a:avLst/>
          </a:prstGeom>
          <a:solidFill>
            <a:schemeClr val="bg1"/>
          </a:solidFill>
          <a:ln w="9525">
            <a:solidFill>
              <a:srgbClr val="CBD5E1"/>
            </a:solidFill>
            <a:prstDash val="solid"/>
          </a:ln>
          <a:effectLst>
            <a:outerShdw sx="100000" sy="100000" kx="0" ky="0" algn="bl" rotWithShape="0" blurRad="76200" dist="25400" dir="5400000">
              <a:srgbClr val="000000">
                <a:alpha val="18000"/>
              </a:srgbClr>
            </a:outerShdw>
          </a:effectLst>
        </p:spPr>
      </p:sp>
      <p:pic>
        <p:nvPicPr>
          <p:cNvPr id="4" name="06-grafana-dashboard.png" descr="06-grafana-dashboard.png">    </p:cNvPr>
          <p:cNvPicPr>
            <a:picLocks noChangeAspect="1"/>
          </p:cNvPicPr>
          <p:nvPr/>
        </p:nvPicPr>
        <p:blipFill>
          <a:blip r:embed="rId1"/>
          <a:stretch>
            <a:fillRect/>
          </a:stretch>
        </p:blipFill>
        <p:spPr>
          <a:xfrm>
            <a:off x="457200" y="1280160"/>
            <a:ext cx="4937760" cy="1651064"/>
          </a:xfrm>
          <a:prstGeom prst="rect">
            <a:avLst/>
          </a:prstGeom>
        </p:spPr>
      </p:pic>
      <p:sp>
        <p:nvSpPr>
          <p:cNvPr id="5" name="06-grafana-dashboard.png caption"/>
          <p:cNvSpPr txBox="1"/>
          <p:nvPr/>
        </p:nvSpPr>
        <p:spPr>
          <a:xfrm>
            <a:off x="457200" y="3022664"/>
            <a:ext cx="4937760" cy="274320"/>
          </a:xfrm>
          <a:prstGeom prst="rect">
            <a:avLst/>
          </a:prstGeom>
          <a:noFill/>
          <a:ln/>
        </p:spPr>
        <p:txBody>
          <a:bodyPr wrap="square" lIns="0" tIns="0" rIns="0" bIns="0" rtlCol="0" anchor="ctr"/>
          <a:lstStyle/>
          <a:p>
            <a:pPr indent="0" marL="0">
              <a:buNone/>
            </a:pPr>
            <a:r>
              <a:rPr lang="en-US" sz="1100" i="1" dirty="0">
                <a:solidFill>
                  <a:schemeClr val="accent4"/>
                </a:solidFill>
              </a:rPr>
              <a:t>Grafana: traffic, latency and status codes</a:t>
            </a:r>
            <a:endParaRPr lang="en-US" sz="1100" dirty="0"/>
          </a:p>
        </p:txBody>
      </p:sp>
      <p:sp>
        <p:nvSpPr>
          <p:cNvPr id="6" name="05b-prometheus-backend-closeup.png frame"/>
          <p:cNvSpPr/>
          <p:nvPr/>
        </p:nvSpPr>
        <p:spPr>
          <a:xfrm>
            <a:off x="984504" y="3392424"/>
            <a:ext cx="3883152" cy="987552"/>
          </a:xfrm>
          <a:prstGeom prst="rect">
            <a:avLst/>
          </a:prstGeom>
          <a:solidFill>
            <a:schemeClr val="bg1"/>
          </a:solidFill>
          <a:ln w="9525">
            <a:solidFill>
              <a:srgbClr val="CBD5E1"/>
            </a:solidFill>
            <a:prstDash val="solid"/>
          </a:ln>
          <a:effectLst>
            <a:outerShdw sx="100000" sy="100000" kx="0" ky="0" algn="bl" rotWithShape="0" blurRad="76200" dist="25400" dir="5400000">
              <a:srgbClr val="000000">
                <a:alpha val="18000"/>
              </a:srgbClr>
            </a:outerShdw>
          </a:effectLst>
        </p:spPr>
      </p:sp>
      <p:pic>
        <p:nvPicPr>
          <p:cNvPr id="7" name="05b-prometheus-backend-closeup.png" descr="05b-prometheus-backend-closeup.png">    </p:cNvPr>
          <p:cNvPicPr>
            <a:picLocks noChangeAspect="1"/>
          </p:cNvPicPr>
          <p:nvPr/>
        </p:nvPicPr>
        <p:blipFill>
          <a:blip r:embed="rId2"/>
          <a:stretch>
            <a:fillRect/>
          </a:stretch>
        </p:blipFill>
        <p:spPr>
          <a:xfrm>
            <a:off x="1021080" y="3429000"/>
            <a:ext cx="3810000" cy="914400"/>
          </a:xfrm>
          <a:prstGeom prst="rect">
            <a:avLst/>
          </a:prstGeom>
        </p:spPr>
      </p:pic>
      <p:sp>
        <p:nvSpPr>
          <p:cNvPr id="8" name="prom circle"/>
          <p:cNvSpPr/>
          <p:nvPr/>
        </p:nvSpPr>
        <p:spPr>
          <a:xfrm>
            <a:off x="5760720" y="1234440"/>
            <a:ext cx="502920" cy="502920"/>
          </a:xfrm>
          <a:prstGeom prst="ellipse">
            <a:avLst/>
          </a:prstGeom>
          <a:solidFill>
            <a:schemeClr val="accent1"/>
          </a:solidFill>
          <a:ln/>
        </p:spPr>
      </p:sp>
      <p:pic>
        <p:nvPicPr>
          <p:cNvPr id="9" name="prom icon" descr="preencoded.png">    </p:cNvPr>
          <p:cNvPicPr>
            <a:picLocks noChangeAspect="1"/>
          </p:cNvPicPr>
          <p:nvPr/>
        </p:nvPicPr>
        <p:blipFill>
          <a:blip r:embed="rId3"/>
          <a:stretch>
            <a:fillRect/>
          </a:stretch>
        </p:blipFill>
        <p:spPr>
          <a:xfrm>
            <a:off x="5881421" y="1355141"/>
            <a:ext cx="261518" cy="261518"/>
          </a:xfrm>
          <a:prstGeom prst="rect">
            <a:avLst/>
          </a:prstGeom>
        </p:spPr>
      </p:pic>
      <p:sp>
        <p:nvSpPr>
          <p:cNvPr id="10" name="prom text"/>
          <p:cNvSpPr txBox="1"/>
          <p:nvPr/>
        </p:nvSpPr>
        <p:spPr>
          <a:xfrm>
            <a:off x="6446520" y="1161288"/>
            <a:ext cx="2240280" cy="685800"/>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Prometheus</a:t>
            </a:r>
            <a:endParaRPr lang="en-US" sz="1600" dirty="0"/>
          </a:p>
          <a:p>
            <a:pPr indent="0" marL="0">
              <a:spcAft>
                <a:spcPts val="200"/>
              </a:spcAft>
              <a:buNone/>
            </a:pPr>
            <a:r>
              <a:rPr lang="en-US" sz="1400" dirty="0">
                <a:solidFill>
                  <a:schemeClr val="accent6"/>
                </a:solidFill>
              </a:rPr>
              <a:t>Collects metrics from every backend pod</a:t>
            </a:r>
            <a:endParaRPr lang="en-US" sz="1600" dirty="0"/>
          </a:p>
        </p:txBody>
      </p:sp>
      <p:sp>
        <p:nvSpPr>
          <p:cNvPr id="11" name="grafana circle"/>
          <p:cNvSpPr/>
          <p:nvPr/>
        </p:nvSpPr>
        <p:spPr>
          <a:xfrm>
            <a:off x="5760720" y="2148840"/>
            <a:ext cx="502920" cy="502920"/>
          </a:xfrm>
          <a:prstGeom prst="ellipse">
            <a:avLst/>
          </a:prstGeom>
          <a:solidFill>
            <a:schemeClr val="accent1"/>
          </a:solidFill>
          <a:ln/>
        </p:spPr>
      </p:sp>
      <p:pic>
        <p:nvPicPr>
          <p:cNvPr id="12" name="grafana icon" descr="preencoded.png">    </p:cNvPr>
          <p:cNvPicPr>
            <a:picLocks noChangeAspect="1"/>
          </p:cNvPicPr>
          <p:nvPr/>
        </p:nvPicPr>
        <p:blipFill>
          <a:blip r:embed="rId4"/>
          <a:stretch>
            <a:fillRect/>
          </a:stretch>
        </p:blipFill>
        <p:spPr>
          <a:xfrm>
            <a:off x="5881421" y="2269541"/>
            <a:ext cx="261518" cy="261518"/>
          </a:xfrm>
          <a:prstGeom prst="rect">
            <a:avLst/>
          </a:prstGeom>
        </p:spPr>
      </p:pic>
      <p:sp>
        <p:nvSpPr>
          <p:cNvPr id="13" name="grafana text"/>
          <p:cNvSpPr txBox="1"/>
          <p:nvPr/>
        </p:nvSpPr>
        <p:spPr>
          <a:xfrm>
            <a:off x="6446520" y="2075688"/>
            <a:ext cx="2240280" cy="685800"/>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Grafana</a:t>
            </a:r>
            <a:endParaRPr lang="en-US" sz="1600" dirty="0"/>
          </a:p>
          <a:p>
            <a:pPr indent="0" marL="0">
              <a:spcAft>
                <a:spcPts val="200"/>
              </a:spcAft>
              <a:buNone/>
            </a:pPr>
            <a:r>
              <a:rPr lang="en-US" sz="1400" dirty="0">
                <a:solidFill>
                  <a:schemeClr val="accent6"/>
                </a:solidFill>
              </a:rPr>
              <a:t>Turns metrics into live dashboards</a:t>
            </a:r>
            <a:endParaRPr lang="en-US" sz="1600" dirty="0"/>
          </a:p>
        </p:txBody>
      </p:sp>
      <p:sp>
        <p:nvSpPr>
          <p:cNvPr id="14" name="why circle"/>
          <p:cNvSpPr/>
          <p:nvPr/>
        </p:nvSpPr>
        <p:spPr>
          <a:xfrm>
            <a:off x="5760720" y="3063240"/>
            <a:ext cx="502920" cy="502920"/>
          </a:xfrm>
          <a:prstGeom prst="ellipse">
            <a:avLst/>
          </a:prstGeom>
          <a:solidFill>
            <a:schemeClr val="accent1"/>
          </a:solidFill>
          <a:ln/>
        </p:spPr>
      </p:sp>
      <p:pic>
        <p:nvPicPr>
          <p:cNvPr id="15" name="why icon" descr="preencoded.png">    </p:cNvPr>
          <p:cNvPicPr>
            <a:picLocks noChangeAspect="1"/>
          </p:cNvPicPr>
          <p:nvPr/>
        </p:nvPicPr>
        <p:blipFill>
          <a:blip r:embed="rId5"/>
          <a:stretch>
            <a:fillRect/>
          </a:stretch>
        </p:blipFill>
        <p:spPr>
          <a:xfrm>
            <a:off x="5881421" y="3183941"/>
            <a:ext cx="261518" cy="261518"/>
          </a:xfrm>
          <a:prstGeom prst="rect">
            <a:avLst/>
          </a:prstGeom>
        </p:spPr>
      </p:pic>
      <p:sp>
        <p:nvSpPr>
          <p:cNvPr id="16" name="why text"/>
          <p:cNvSpPr txBox="1"/>
          <p:nvPr/>
        </p:nvSpPr>
        <p:spPr>
          <a:xfrm>
            <a:off x="6446520" y="2990088"/>
            <a:ext cx="2240280" cy="685800"/>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Why</a:t>
            </a:r>
            <a:endParaRPr lang="en-US" sz="1600" dirty="0"/>
          </a:p>
          <a:p>
            <a:pPr indent="0" marL="0">
              <a:spcAft>
                <a:spcPts val="200"/>
              </a:spcAft>
              <a:buNone/>
            </a:pPr>
            <a:r>
              <a:rPr lang="en-US" sz="1400" dirty="0">
                <a:solidFill>
                  <a:schemeClr val="accent6"/>
                </a:solidFill>
              </a:rPr>
              <a:t>Open source, the standard for Kubernetes</a:t>
            </a:r>
            <a:endParaRPr lang="en-US" sz="16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365760"/>
            <a:ext cx="8229600" cy="731520"/>
          </a:xfrm>
          <a:prstGeom prst="rect">
            <a:avLst/>
          </a:prstGeom>
          <a:noFill/>
          <a:ln/>
        </p:spPr>
        <p:txBody>
          <a:bodyPr wrap="square" lIns="0" tIns="0" rIns="0" bIns="0" rtlCol="0" anchor="ctr"/>
          <a:lstStyle/>
          <a:p>
            <a:pPr indent="0" marL="0">
              <a:buNone/>
            </a:pPr>
            <a:r>
              <a:rPr lang="en-US" sz="3600" b="1" dirty="0">
                <a:solidFill>
                  <a:schemeClr val="bg1"/>
                </a:solidFill>
              </a:rPr>
              <a:t>Why this stack?</a:t>
            </a:r>
            <a:endParaRPr lang="en-US" sz="3600" dirty="0"/>
          </a:p>
        </p:txBody>
      </p:sp>
      <p:sp>
        <p:nvSpPr>
          <p:cNvPr id="3" name="Simple card"/>
          <p:cNvSpPr/>
          <p:nvPr/>
        </p:nvSpPr>
        <p:spPr>
          <a:xfrm>
            <a:off x="457200" y="1463040"/>
            <a:ext cx="1920240" cy="2468880"/>
          </a:xfrm>
          <a:prstGeom prst="roundRect">
            <a:avLst>
              <a:gd name="adj" fmla="val 4762"/>
            </a:avLst>
          </a:prstGeom>
          <a:solidFill>
            <a:schemeClr val="tx2"/>
          </a:solidFill>
          <a:ln/>
        </p:spPr>
      </p:sp>
      <p:sp>
        <p:nvSpPr>
          <p:cNvPr id="4" name="Simple circle"/>
          <p:cNvSpPr/>
          <p:nvPr/>
        </p:nvSpPr>
        <p:spPr>
          <a:xfrm>
            <a:off x="685800" y="1691640"/>
            <a:ext cx="548640" cy="548640"/>
          </a:xfrm>
          <a:prstGeom prst="ellipse">
            <a:avLst/>
          </a:prstGeom>
          <a:solidFill>
            <a:schemeClr val="accent1"/>
          </a:solidFill>
          <a:ln/>
        </p:spPr>
      </p:sp>
      <p:pic>
        <p:nvPicPr>
          <p:cNvPr id="5" name="Simple icon" descr="preencoded.png">    </p:cNvPr>
          <p:cNvPicPr>
            <a:picLocks noChangeAspect="1"/>
          </p:cNvPicPr>
          <p:nvPr/>
        </p:nvPicPr>
        <p:blipFill>
          <a:blip r:embed="rId1"/>
          <a:stretch>
            <a:fillRect/>
          </a:stretch>
        </p:blipFill>
        <p:spPr>
          <a:xfrm>
            <a:off x="817474" y="1823314"/>
            <a:ext cx="285293" cy="285293"/>
          </a:xfrm>
          <a:prstGeom prst="rect">
            <a:avLst/>
          </a:prstGeom>
        </p:spPr>
      </p:pic>
      <p:sp>
        <p:nvSpPr>
          <p:cNvPr id="6" name="Text 3"/>
          <p:cNvSpPr txBox="1"/>
          <p:nvPr/>
        </p:nvSpPr>
        <p:spPr>
          <a:xfrm>
            <a:off x="685800" y="2423160"/>
            <a:ext cx="1463040" cy="365760"/>
          </a:xfrm>
          <a:prstGeom prst="rect">
            <a:avLst/>
          </a:prstGeom>
          <a:noFill/>
          <a:ln/>
        </p:spPr>
        <p:txBody>
          <a:bodyPr wrap="square" lIns="0" tIns="0" rIns="0" bIns="0" rtlCol="0" anchor="ctr"/>
          <a:lstStyle/>
          <a:p>
            <a:pPr indent="0" marL="0">
              <a:buNone/>
            </a:pPr>
            <a:r>
              <a:rPr lang="en-US" sz="1800" b="1" dirty="0">
                <a:solidFill>
                  <a:schemeClr val="bg1"/>
                </a:solidFill>
              </a:rPr>
              <a:t>Simple</a:t>
            </a:r>
            <a:endParaRPr lang="en-US" sz="1800" dirty="0"/>
          </a:p>
        </p:txBody>
      </p:sp>
      <p:sp>
        <p:nvSpPr>
          <p:cNvPr id="7" name="Text 4"/>
          <p:cNvSpPr txBox="1"/>
          <p:nvPr/>
        </p:nvSpPr>
        <p:spPr>
          <a:xfrm>
            <a:off x="685800" y="2834640"/>
            <a:ext cx="1463040" cy="1005840"/>
          </a:xfrm>
          <a:prstGeom prst="rect">
            <a:avLst/>
          </a:prstGeom>
          <a:noFill/>
          <a:ln/>
        </p:spPr>
        <p:txBody>
          <a:bodyPr wrap="square" lIns="0" tIns="0" rIns="0" bIns="0" rtlCol="0" anchor="t"/>
          <a:lstStyle/>
          <a:p>
            <a:pPr indent="0" marL="0">
              <a:buNone/>
            </a:pPr>
            <a:r>
              <a:rPr lang="en-US" sz="1400" dirty="0">
                <a:solidFill>
                  <a:srgbClr val="CBD5E1"/>
                </a:solidFill>
              </a:rPr>
              <a:t>Popular, well-documented tools the team could learn fast</a:t>
            </a:r>
            <a:endParaRPr lang="en-US" sz="1400" dirty="0"/>
          </a:p>
        </p:txBody>
      </p:sp>
      <p:sp>
        <p:nvSpPr>
          <p:cNvPr id="8" name="Automated card"/>
          <p:cNvSpPr/>
          <p:nvPr/>
        </p:nvSpPr>
        <p:spPr>
          <a:xfrm>
            <a:off x="2560320" y="1463040"/>
            <a:ext cx="1920240" cy="2468880"/>
          </a:xfrm>
          <a:prstGeom prst="roundRect">
            <a:avLst>
              <a:gd name="adj" fmla="val 4762"/>
            </a:avLst>
          </a:prstGeom>
          <a:solidFill>
            <a:schemeClr val="tx2"/>
          </a:solidFill>
          <a:ln/>
        </p:spPr>
      </p:sp>
      <p:sp>
        <p:nvSpPr>
          <p:cNvPr id="9" name="Automated circle"/>
          <p:cNvSpPr/>
          <p:nvPr/>
        </p:nvSpPr>
        <p:spPr>
          <a:xfrm>
            <a:off x="2788920" y="1691640"/>
            <a:ext cx="548640" cy="548640"/>
          </a:xfrm>
          <a:prstGeom prst="ellipse">
            <a:avLst/>
          </a:prstGeom>
          <a:solidFill>
            <a:schemeClr val="accent1"/>
          </a:solidFill>
          <a:ln/>
        </p:spPr>
      </p:sp>
      <p:pic>
        <p:nvPicPr>
          <p:cNvPr id="10" name="Automated icon" descr="preencoded.png">    </p:cNvPr>
          <p:cNvPicPr>
            <a:picLocks noChangeAspect="1"/>
          </p:cNvPicPr>
          <p:nvPr/>
        </p:nvPicPr>
        <p:blipFill>
          <a:blip r:embed="rId2"/>
          <a:stretch>
            <a:fillRect/>
          </a:stretch>
        </p:blipFill>
        <p:spPr>
          <a:xfrm>
            <a:off x="2920594" y="1823314"/>
            <a:ext cx="285293" cy="285293"/>
          </a:xfrm>
          <a:prstGeom prst="rect">
            <a:avLst/>
          </a:prstGeom>
        </p:spPr>
      </p:pic>
      <p:sp>
        <p:nvSpPr>
          <p:cNvPr id="11" name="Text 7"/>
          <p:cNvSpPr txBox="1"/>
          <p:nvPr/>
        </p:nvSpPr>
        <p:spPr>
          <a:xfrm>
            <a:off x="2788920" y="2423160"/>
            <a:ext cx="1463040" cy="365760"/>
          </a:xfrm>
          <a:prstGeom prst="rect">
            <a:avLst/>
          </a:prstGeom>
          <a:noFill/>
          <a:ln/>
        </p:spPr>
        <p:txBody>
          <a:bodyPr wrap="square" lIns="0" tIns="0" rIns="0" bIns="0" rtlCol="0" anchor="ctr"/>
          <a:lstStyle/>
          <a:p>
            <a:pPr indent="0" marL="0">
              <a:buNone/>
            </a:pPr>
            <a:r>
              <a:rPr lang="en-US" sz="1800" b="1" dirty="0">
                <a:solidFill>
                  <a:schemeClr val="bg1"/>
                </a:solidFill>
              </a:rPr>
              <a:t>Automated</a:t>
            </a:r>
            <a:endParaRPr lang="en-US" sz="1800" dirty="0"/>
          </a:p>
        </p:txBody>
      </p:sp>
      <p:sp>
        <p:nvSpPr>
          <p:cNvPr id="12" name="Text 8"/>
          <p:cNvSpPr txBox="1"/>
          <p:nvPr/>
        </p:nvSpPr>
        <p:spPr>
          <a:xfrm>
            <a:off x="2788920" y="2834640"/>
            <a:ext cx="1463040" cy="1005840"/>
          </a:xfrm>
          <a:prstGeom prst="rect">
            <a:avLst/>
          </a:prstGeom>
          <a:noFill/>
          <a:ln/>
        </p:spPr>
        <p:txBody>
          <a:bodyPr wrap="square" lIns="0" tIns="0" rIns="0" bIns="0" rtlCol="0" anchor="t"/>
          <a:lstStyle/>
          <a:p>
            <a:pPr indent="0" marL="0">
              <a:buNone/>
            </a:pPr>
            <a:r>
              <a:rPr lang="en-US" sz="1400" dirty="0">
                <a:solidFill>
                  <a:srgbClr val="CBD5E1"/>
                </a:solidFill>
              </a:rPr>
              <a:t>Push to production in minutes, no manual steps</a:t>
            </a:r>
            <a:endParaRPr lang="en-US" sz="1400" dirty="0"/>
          </a:p>
        </p:txBody>
      </p:sp>
      <p:sp>
        <p:nvSpPr>
          <p:cNvPr id="13" name="Secure card"/>
          <p:cNvSpPr/>
          <p:nvPr/>
        </p:nvSpPr>
        <p:spPr>
          <a:xfrm>
            <a:off x="4663440" y="1463040"/>
            <a:ext cx="1920240" cy="2468880"/>
          </a:xfrm>
          <a:prstGeom prst="roundRect">
            <a:avLst>
              <a:gd name="adj" fmla="val 4762"/>
            </a:avLst>
          </a:prstGeom>
          <a:solidFill>
            <a:schemeClr val="tx2"/>
          </a:solidFill>
          <a:ln/>
        </p:spPr>
      </p:sp>
      <p:sp>
        <p:nvSpPr>
          <p:cNvPr id="14" name="Secure circle"/>
          <p:cNvSpPr/>
          <p:nvPr/>
        </p:nvSpPr>
        <p:spPr>
          <a:xfrm>
            <a:off x="4892040" y="1691640"/>
            <a:ext cx="548640" cy="548640"/>
          </a:xfrm>
          <a:prstGeom prst="ellipse">
            <a:avLst/>
          </a:prstGeom>
          <a:solidFill>
            <a:schemeClr val="accent1"/>
          </a:solidFill>
          <a:ln/>
        </p:spPr>
      </p:sp>
      <p:pic>
        <p:nvPicPr>
          <p:cNvPr id="15" name="Secure icon" descr="preencoded.png">    </p:cNvPr>
          <p:cNvPicPr>
            <a:picLocks noChangeAspect="1"/>
          </p:cNvPicPr>
          <p:nvPr/>
        </p:nvPicPr>
        <p:blipFill>
          <a:blip r:embed="rId3"/>
          <a:stretch>
            <a:fillRect/>
          </a:stretch>
        </p:blipFill>
        <p:spPr>
          <a:xfrm>
            <a:off x="5023714" y="1823314"/>
            <a:ext cx="285293" cy="285293"/>
          </a:xfrm>
          <a:prstGeom prst="rect">
            <a:avLst/>
          </a:prstGeom>
        </p:spPr>
      </p:pic>
      <p:sp>
        <p:nvSpPr>
          <p:cNvPr id="16" name="Text 11"/>
          <p:cNvSpPr txBox="1"/>
          <p:nvPr/>
        </p:nvSpPr>
        <p:spPr>
          <a:xfrm>
            <a:off x="4892040" y="2423160"/>
            <a:ext cx="1463040" cy="365760"/>
          </a:xfrm>
          <a:prstGeom prst="rect">
            <a:avLst/>
          </a:prstGeom>
          <a:noFill/>
          <a:ln/>
        </p:spPr>
        <p:txBody>
          <a:bodyPr wrap="square" lIns="0" tIns="0" rIns="0" bIns="0" rtlCol="0" anchor="ctr"/>
          <a:lstStyle/>
          <a:p>
            <a:pPr indent="0" marL="0">
              <a:buNone/>
            </a:pPr>
            <a:r>
              <a:rPr lang="en-US" sz="1800" b="1" dirty="0">
                <a:solidFill>
                  <a:schemeClr val="bg1"/>
                </a:solidFill>
              </a:rPr>
              <a:t>Secure</a:t>
            </a:r>
            <a:endParaRPr lang="en-US" sz="1800" dirty="0"/>
          </a:p>
        </p:txBody>
      </p:sp>
      <p:sp>
        <p:nvSpPr>
          <p:cNvPr id="17" name="Text 12"/>
          <p:cNvSpPr txBox="1"/>
          <p:nvPr/>
        </p:nvSpPr>
        <p:spPr>
          <a:xfrm>
            <a:off x="4892040" y="2834640"/>
            <a:ext cx="1463040" cy="1005840"/>
          </a:xfrm>
          <a:prstGeom prst="rect">
            <a:avLst/>
          </a:prstGeom>
          <a:noFill/>
          <a:ln/>
        </p:spPr>
        <p:txBody>
          <a:bodyPr wrap="square" lIns="0" tIns="0" rIns="0" bIns="0" rtlCol="0" anchor="t"/>
          <a:lstStyle/>
          <a:p>
            <a:pPr indent="0" marL="0">
              <a:buNone/>
            </a:pPr>
            <a:r>
              <a:rPr lang="en-US" sz="1400" dirty="0">
                <a:solidFill>
                  <a:srgbClr val="CBD5E1"/>
                </a:solidFill>
              </a:rPr>
              <a:t>Scanned, non-root containers by default</a:t>
            </a:r>
            <a:endParaRPr lang="en-US" sz="1400" dirty="0"/>
          </a:p>
        </p:txBody>
      </p:sp>
      <p:sp>
        <p:nvSpPr>
          <p:cNvPr id="18" name="Repeatable card"/>
          <p:cNvSpPr/>
          <p:nvPr/>
        </p:nvSpPr>
        <p:spPr>
          <a:xfrm>
            <a:off x="6766560" y="1463040"/>
            <a:ext cx="1920240" cy="2468880"/>
          </a:xfrm>
          <a:prstGeom prst="roundRect">
            <a:avLst>
              <a:gd name="adj" fmla="val 4762"/>
            </a:avLst>
          </a:prstGeom>
          <a:solidFill>
            <a:schemeClr val="tx2"/>
          </a:solidFill>
          <a:ln/>
        </p:spPr>
      </p:sp>
      <p:sp>
        <p:nvSpPr>
          <p:cNvPr id="19" name="Repeatable circle"/>
          <p:cNvSpPr/>
          <p:nvPr/>
        </p:nvSpPr>
        <p:spPr>
          <a:xfrm>
            <a:off x="6995160" y="1691640"/>
            <a:ext cx="548640" cy="548640"/>
          </a:xfrm>
          <a:prstGeom prst="ellipse">
            <a:avLst/>
          </a:prstGeom>
          <a:solidFill>
            <a:schemeClr val="accent1"/>
          </a:solidFill>
          <a:ln/>
        </p:spPr>
      </p:sp>
      <p:pic>
        <p:nvPicPr>
          <p:cNvPr id="20" name="Repeatable icon" descr="preencoded.png">    </p:cNvPr>
          <p:cNvPicPr>
            <a:picLocks noChangeAspect="1"/>
          </p:cNvPicPr>
          <p:nvPr/>
        </p:nvPicPr>
        <p:blipFill>
          <a:blip r:embed="rId4"/>
          <a:stretch>
            <a:fillRect/>
          </a:stretch>
        </p:blipFill>
        <p:spPr>
          <a:xfrm>
            <a:off x="7126834" y="1823314"/>
            <a:ext cx="285293" cy="285293"/>
          </a:xfrm>
          <a:prstGeom prst="rect">
            <a:avLst/>
          </a:prstGeom>
        </p:spPr>
      </p:pic>
      <p:sp>
        <p:nvSpPr>
          <p:cNvPr id="21" name="Text 15"/>
          <p:cNvSpPr txBox="1"/>
          <p:nvPr/>
        </p:nvSpPr>
        <p:spPr>
          <a:xfrm>
            <a:off x="6995160" y="2423160"/>
            <a:ext cx="1463040" cy="365760"/>
          </a:xfrm>
          <a:prstGeom prst="rect">
            <a:avLst/>
          </a:prstGeom>
          <a:noFill/>
          <a:ln/>
        </p:spPr>
        <p:txBody>
          <a:bodyPr wrap="square" lIns="0" tIns="0" rIns="0" bIns="0" rtlCol="0" anchor="ctr"/>
          <a:lstStyle/>
          <a:p>
            <a:pPr indent="0" marL="0">
              <a:buNone/>
            </a:pPr>
            <a:r>
              <a:rPr lang="en-US" sz="1800" b="1" dirty="0">
                <a:solidFill>
                  <a:schemeClr val="bg1"/>
                </a:solidFill>
              </a:rPr>
              <a:t>Repeatable</a:t>
            </a:r>
            <a:endParaRPr lang="en-US" sz="1800" dirty="0"/>
          </a:p>
        </p:txBody>
      </p:sp>
      <p:sp>
        <p:nvSpPr>
          <p:cNvPr id="22" name="Text 16"/>
          <p:cNvSpPr txBox="1"/>
          <p:nvPr/>
        </p:nvSpPr>
        <p:spPr>
          <a:xfrm>
            <a:off x="6995160" y="2834640"/>
            <a:ext cx="1463040" cy="1005840"/>
          </a:xfrm>
          <a:prstGeom prst="rect">
            <a:avLst/>
          </a:prstGeom>
          <a:noFill/>
          <a:ln/>
        </p:spPr>
        <p:txBody>
          <a:bodyPr wrap="square" lIns="0" tIns="0" rIns="0" bIns="0" rtlCol="0" anchor="t"/>
          <a:lstStyle/>
          <a:p>
            <a:pPr indent="0" marL="0">
              <a:buNone/>
            </a:pPr>
            <a:r>
              <a:rPr lang="en-US" sz="1400" dirty="0">
                <a:solidFill>
                  <a:srgbClr val="CBD5E1"/>
                </a:solidFill>
              </a:rPr>
              <a:t>Infrastructure as code; build up or tear down anytime</a:t>
            </a:r>
            <a:endParaRPr lang="en-US" sz="1400" dirty="0"/>
          </a:p>
        </p:txBody>
      </p:sp>
      <p:sp>
        <p:nvSpPr>
          <p:cNvPr id="23" name="Text 17"/>
          <p:cNvSpPr txBox="1"/>
          <p:nvPr/>
        </p:nvSpPr>
        <p:spPr>
          <a:xfrm>
            <a:off x="457200" y="4251960"/>
            <a:ext cx="8229600" cy="365760"/>
          </a:xfrm>
          <a:prstGeom prst="rect">
            <a:avLst/>
          </a:prstGeom>
          <a:noFill/>
          <a:ln/>
        </p:spPr>
        <p:txBody>
          <a:bodyPr wrap="square" lIns="0" tIns="0" rIns="0" bIns="0" rtlCol="0" anchor="ctr"/>
          <a:lstStyle/>
          <a:p>
            <a:pPr indent="0" marL="0">
              <a:buNone/>
            </a:pPr>
            <a:r>
              <a:rPr lang="en-US" sz="1600" i="1" dirty="0">
                <a:solidFill>
                  <a:schemeClr val="accent5"/>
                </a:solidFill>
              </a:rPr>
              <a:t>Thank you — questions?</a:t>
            </a:r>
            <a:endParaRPr lang="en-US" sz="1600" dirty="0"/>
          </a:p>
        </p:txBody>
      </p:sp>
      <p:sp>
        <p:nvSpPr>
          <p:cNvPr id="25" name="Text 0"/>
          <p:cNvSpPr/>
          <p:nvPr>
            <p:ph idx="100" type="title" hasCustomPrompt="1"/>
          </p:nvPr>
        </p:nvSpPr>
        <p:spPr>
          <a:xfrm>
            <a:off x="457200" y="1371600"/>
            <a:ext cx="4206240" cy="914400"/>
          </a:xfrm>
          <a:prstGeom prst="rect">
            <a:avLst/>
          </a:prstGeom>
          <a:noFill/>
          <a:ln/>
        </p:spPr>
        <p:txBody>
          <a:bodyPr wrap="square" lIns="0" tIns="0" rIns="0" bIns="0" rtlCol="0" anchor="b"/>
          <a:lstStyle/>
          <a:p>
            <a:pPr algn="l" indent="0" marL="0">
              <a:buNone/>
            </a:pPr>
            <a:endParaRPr lang="en-US" sz="4400" dirty="0"/>
          </a:p>
        </p:txBody>
      </p:sp>
      <p:sp>
        <p:nvSpPr>
          <p:cNvPr id="26" name="Text 0"/>
          <p:cNvSpPr/>
          <p:nvPr>
            <p:ph idx="101" type="body" hasCustomPrompt="1"/>
          </p:nvPr>
        </p:nvSpPr>
        <p:spPr>
          <a:xfrm>
            <a:off x="457200" y="2377440"/>
            <a:ext cx="4206240" cy="1097280"/>
          </a:xfrm>
          <a:prstGeom prst="rect">
            <a:avLst/>
          </a:prstGeom>
          <a:noFill/>
          <a:ln/>
        </p:spPr>
        <p:txBody>
          <a:bodyPr wrap="square" lIns="0" tIns="0" rIns="0" bIns="0" rtlCol="0" anchor="t"/>
          <a:lstStyle/>
          <a:p>
            <a:pPr indent="0" marL="0">
              <a:buNone/>
            </a:pPr>
            <a:endParaRPr lang="en-US" sz="1800" dirty="0"/>
          </a:p>
        </p:txBody>
      </p:sp>
    </p:spTree>
  </p:cSld>
  <p:clrMapOvr>
    <a:masterClrMapping/>
  </p:clrMapOvr>
</p:sld>
</file>

<file path=ppt/theme/theme1.xml><?xml version="1.0" encoding="utf-8"?>
<a:theme xmlns:a="http://schemas.openxmlformats.org/drawingml/2006/main" name="StockPilot">
  <a:themeElements>
    <a:clrScheme name="StockPilot">
      <a:dk1>
        <a:srgbClr val="111827"/>
      </a:dk1>
      <a:lt1>
        <a:srgbClr val="FFFFFF"/>
      </a:lt1>
      <a:dk2>
        <a:srgbClr val="1E293B"/>
      </a:dk2>
      <a:lt2>
        <a:srgbClr val="F1F5F9"/>
      </a:lt2>
      <a:accent1>
        <a:srgbClr val="16A34A"/>
      </a:accent1>
      <a:accent2>
        <a:srgbClr val="F59E0B"/>
      </a:accent2>
      <a:accent3>
        <a:srgbClr val="0EA5E9"/>
      </a:accent3>
      <a:accent4>
        <a:srgbClr val="64748B"/>
      </a:accent4>
      <a:accent5>
        <a:srgbClr val="DCFCE7"/>
      </a:accent5>
      <a:accent6>
        <a:srgbClr val="334155"/>
      </a:accent6>
      <a:hlink>
        <a:srgbClr val="0EA5E9"/>
      </a:hlink>
      <a:folHlink>
        <a:srgbClr val="64748B"/>
      </a:folHlink>
    </a:clrScheme>
    <a:fontScheme name="StockPilo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StockPilot — Tech Stack &amp; Architecture</dc:title>
  <dc:subject>PptxGenJS Presentation</dc:subject>
  <dc:creator>StockPilot Team</dc:creator>
  <cp:lastModifiedBy>StockPilot Team</cp:lastModifiedBy>
  <cp:revision>1</cp:revision>
  <dcterms:created xsi:type="dcterms:W3CDTF">2026-10-21T11:26:03Z</dcterms:created>
  <dcterms:modified xsi:type="dcterms:W3CDTF">2026-10-21T11:26:03Z</dcterms:modified>
</cp:coreProperties>
</file>